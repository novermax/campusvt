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12"/>
    <p:sldId id="257" r:id="rId13"/>
    <p:sldId id="258" r:id="rId11"/>
    <p:sldId id="259" r:id="rId10"/>
    <p:sldId id="260" r:id="rId9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793585-A4ED-4956-9694-7D0F8A9C40DD}">
          <p14:sldIdLst>
            <p14:sldId id="293"/>
            <p14:sldId id="581"/>
            <p14:sldId id="589"/>
            <p14:sldId id="580"/>
            <p14:sldId id="588"/>
            <p14:sldId id="555"/>
            <p14:sldId id="592"/>
            <p14:sldId id="591"/>
            <p14:sldId id="585"/>
          </p14:sldIdLst>
        </p14:section>
        <p14:section name="Rilancio" id="{396376CD-9E76-46CD-80A7-9DD414DC58C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FD7FF8-61F1-E6D6-287A-F94E52DCE007}" name="Valentina Giampaolo" initials="VG" userId="S::vgiampaolo@corp.scmgroup.com::62c45ab0-7622-40dd-bcfa-03b1d5e605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600"/>
    <a:srgbClr val="00528D"/>
    <a:srgbClr val="003063"/>
    <a:srgbClr val="BBB9B9"/>
    <a:srgbClr val="002060"/>
    <a:srgbClr val="FA66E1"/>
    <a:srgbClr val="706E6E"/>
    <a:srgbClr val="FFFFFF"/>
    <a:srgbClr val="E7E6E6"/>
    <a:srgbClr val="36A4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075BE-A1B0-62A1-ED48-C86C38711FE7}" v="1342" dt="2026-07-07T08:30:22.849"/>
    <p1510:client id="{66273D9F-C476-AF06-E0CE-B72318CE670E}" v="10" dt="2026-07-07T08:17:09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A120B-AC60-E248-A448-8E7243714845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2D170-DAAE-2743-BDAF-7DD4A4487885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524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8867386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64250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5372627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796347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99780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12859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8280444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81929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8998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152336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356974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-138037" y="6485861"/>
            <a:ext cx="552892" cy="212653"/>
          </a:xfrm>
          <a:ln/>
        </p:spPr>
        <p:txBody>
          <a:bodyPr wrap="none" lIns="0" tIns="0" rIns="0" bIns="0"/>
          <a:lstStyle>
            <a:lvl1pPr algn="r">
              <a:defRPr sz="933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9DC4F37-B519-4A17-91A4-8B20F26F4DDE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  <p:sp>
        <p:nvSpPr>
          <p:cNvPr id="8" name="Rettangolo 7"/>
          <p:cNvSpPr/>
          <p:nvPr userDrawn="1"/>
        </p:nvSpPr>
        <p:spPr>
          <a:xfrm>
            <a:off x="2" y="0"/>
            <a:ext cx="402567" cy="6142008"/>
          </a:xfrm>
          <a:prstGeom prst="rect">
            <a:avLst/>
          </a:prstGeom>
          <a:solidFill>
            <a:srgbClr val="002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7" name="Picture 3" descr="D:\Google Drive\LAVORI\REBRANDING\ATTIVITA' REBRANDING\CORPORATE IDENTITY\LOGHI 2017\SCM_GROUP_LOGO_037\SCM_GROUP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56265" y="6227571"/>
            <a:ext cx="1698116" cy="48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5266459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397933" y="0"/>
            <a:ext cx="11794067" cy="614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-138037" y="6485860"/>
            <a:ext cx="552892" cy="212653"/>
          </a:xfrm>
          <a:ln/>
        </p:spPr>
        <p:txBody>
          <a:bodyPr wrap="none" lIns="0" tIns="0" rIns="0" bIns="0" numCol="1"/>
          <a:lstStyle>
            <a:lvl1pPr algn="r">
              <a:defRPr sz="933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9DC4F37-B519-4A17-91A4-8B20F26F4DDE}" type="slidenum">
              <a:rPr lang="it-IT" altLang="it-IT" smtClean="0"/>
              <a:pPr>
                <a:defRPr/>
              </a:pPr>
              <a:t>‹#›</a:t>
            </a:fld>
            <a:endParaRPr lang="it-IT" altLang="it-IT"/>
          </a:p>
        </p:txBody>
      </p:sp>
      <p:sp>
        <p:nvSpPr>
          <p:cNvPr id="8" name="Rettangolo 7"/>
          <p:cNvSpPr/>
          <p:nvPr userDrawn="1"/>
        </p:nvSpPr>
        <p:spPr>
          <a:xfrm>
            <a:off x="2" y="0"/>
            <a:ext cx="402567" cy="6142008"/>
          </a:xfrm>
          <a:prstGeom prst="rect">
            <a:avLst/>
          </a:prstGeom>
          <a:solidFill>
            <a:srgbClr val="002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it-IT" altLang="it-IT"/>
          </a:p>
        </p:txBody>
      </p:sp>
      <p:pic>
        <p:nvPicPr>
          <p:cNvPr id="9" name="Picture 3" descr="D:\Google Drive\LAVORI\REBRANDING\ATTIVITA' REBRANDING\CORPORATE IDENTITY\LOGHI 2017\SCM_GROUP_LOGO_037\SCM_GROUP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0156265" y="6227570"/>
            <a:ext cx="1698116" cy="48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8184557"/>
      </p:ext>
    </p:extLst>
  </p:cSld>
  <p:clrMapOvr>
    <a:masterClrMapping/>
  </p:clrMapOvr>
  <p:transition>
    <p:wipe dir="r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DFE25-04C1-FA46-BE28-6FFBB29E31D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56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9" r:id="rId12"/>
    <p:sldLayoutId id="2147483680" r:id="rId13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00000"/>
          </a:xfrm>
          <a:prstGeom prst="rect">
            <a:avLst/>
          </a:prstGeom>
          <a:solidFill>
            <a:srgbClr val="003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Perché un cliente dovrebbe</a:t>
            </a:r>
          </a:p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acquistare Campus Virtual Training?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0" y="1300000"/>
            <a:ext cx="4000000" cy="12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6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DEE"/>
                </a:solidFill>
                <a:latin typeface="Calibri"/>
              </a:defRPr>
            </a:pPr>
            <a:r>
              <a:rPr>
                <a:latin typeface="Calibri"/>
              </a:rPr>
              <a:t>Vantaggi economici quantificati  |  Luglio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2800000"/>
            <a:ext cx="9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063"/>
                </a:solidFill>
                <a:latin typeface="Calibri"/>
              </a:defRPr>
            </a:pPr>
            <a:r>
              <a:rPr>
                <a:latin typeface="Calibri"/>
              </a:rPr>
              <a:t>La formazione tradizionale costa cara: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€800-2.000/giornata per un corso in aula SCM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€300-600 di trasferta per ogni sessione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Ore di fermo produzione per formare il personale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Nessuna garanzia che l'operatore abbia appreso</a:t>
            </a:r>
          </a:p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La risposta: CVT — tutorial 3D on-demand, nessun visore, nessuna trasferta.</a:t>
            </a:r>
          </a:p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Abbonamento da €400-800/anno, attivazione in ore, disponibile 24/7.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I vantaggi economici quantificati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0000"/>
            <a:ext cx="12192000" cy="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Quanto vale CVT per il cliente?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000" y="900000"/>
            <a:ext cx="2800000" cy="2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0000" y="900000"/>
            <a:ext cx="2800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0000" y="920000"/>
            <a:ext cx="26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1. Riduzione ticket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00" y="1220000"/>
            <a:ext cx="2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Un ticket SCM costa €200-800.</a:t>
            </a:r>
            <a:br/>
            <a:r>
              <a:rPr>
                <a:latin typeface="Calibri"/>
              </a:rPr>
              <a:t>Ogni tutorial evita 3-6 ticket/anno</a:t>
            </a:r>
            <a:br/>
            <a:r>
              <a:rPr>
                <a:latin typeface="Calibri"/>
              </a:rPr>
              <a:t>per deficit formativo.</a:t>
            </a:r>
            <a:br/>
            <a:br/>
            <a:r>
              <a:rPr>
                <a:latin typeface="Calibri"/>
              </a:rPr>
              <a:t>▶ Risparmio: €1.200/anno</a:t>
            </a:r>
            <a:br/>
            <a:r>
              <a:rPr>
                <a:latin typeface="Calibri"/>
              </a:rPr>
              <a:t>▶ Abbonamento Base: €400</a:t>
            </a:r>
            <a:br/>
            <a:r>
              <a:rPr>
                <a:latin typeface="Calibri"/>
              </a:rPr>
              <a:t>▶ ROI: 3x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000" y="900000"/>
            <a:ext cx="2800000" cy="2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000" y="900000"/>
            <a:ext cx="2800000" cy="28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0000" y="920000"/>
            <a:ext cx="26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2. Riduzione 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0000" y="1220000"/>
            <a:ext cx="2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1h di fermo linea = €500-2.000.</a:t>
            </a:r>
            <a:br/>
            <a:r>
              <a:rPr>
                <a:latin typeface="Calibri"/>
              </a:rPr>
              <a:t>Tutorial corretto = meno errori,</a:t>
            </a:r>
            <a:br/>
            <a:r>
              <a:rPr>
                <a:latin typeface="Calibri"/>
              </a:rPr>
              <a:t>meno attese del tecnico (24-72h).</a:t>
            </a:r>
            <a:br/>
            <a:br/>
            <a:r>
              <a:rPr>
                <a:latin typeface="Calibri"/>
              </a:rPr>
              <a:t>▶ Risparmio: €4.000/anno</a:t>
            </a:r>
            <a:br/>
            <a:r>
              <a:rPr>
                <a:latin typeface="Calibri"/>
              </a:rPr>
              <a:t>▶ Abbonamento: €800</a:t>
            </a:r>
            <a:br/>
            <a:r>
              <a:rPr>
                <a:latin typeface="Calibri"/>
              </a:rPr>
              <a:t>▶ ROI: 5x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900000"/>
            <a:ext cx="2800000" cy="2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0" y="900000"/>
            <a:ext cx="2800000" cy="2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000" y="920000"/>
            <a:ext cx="26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3. Eliminazione corsi aula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000" y="1220000"/>
            <a:ext cx="2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Corsi SCM: €800-2.000/giornata</a:t>
            </a:r>
            <a:br/>
            <a:r>
              <a:rPr>
                <a:latin typeface="Calibri"/>
              </a:rPr>
              <a:t>+ viaggio + hotel + ore perse.</a:t>
            </a:r>
            <a:br/>
            <a:r>
              <a:rPr>
                <a:latin typeface="Calibri"/>
              </a:rPr>
              <a:t>Sostituiti da tutorial on-demand.</a:t>
            </a:r>
            <a:br/>
            <a:br/>
            <a:r>
              <a:rPr>
                <a:latin typeface="Calibri"/>
              </a:rPr>
              <a:t>▶ Risparmio: €8.000-15.000/anno</a:t>
            </a:r>
            <a:br/>
            <a:r>
              <a:rPr>
                <a:latin typeface="Calibri"/>
              </a:rPr>
              <a:t>▶ Abbonamento: €400-800</a:t>
            </a:r>
            <a:br/>
            <a:r>
              <a:rPr>
                <a:latin typeface="Calibri"/>
              </a:rPr>
              <a:t>▶ ROI: 10-20x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0000" y="900000"/>
            <a:ext cx="2800000" cy="2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00000" y="900000"/>
            <a:ext cx="2800000" cy="28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0000" y="920000"/>
            <a:ext cx="26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4. Onboarding accelerato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0000" y="1220000"/>
            <a:ext cx="2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Nuovo assunto senza CVT:</a:t>
            </a:r>
            <a:br/>
            <a:r>
              <a:rPr>
                <a:latin typeface="Calibri"/>
              </a:rPr>
              <a:t>2-4 settimane per produttività.</a:t>
            </a:r>
            <a:br/>
            <a:r>
              <a:rPr>
                <a:latin typeface="Calibri"/>
              </a:rPr>
              <a:t>Con CVT: 2-3 giorni.</a:t>
            </a:r>
            <a:br/>
            <a:br/>
            <a:r>
              <a:rPr>
                <a:latin typeface="Calibri"/>
              </a:rPr>
              <a:t>▶ Recupero: €3.000-6.000</a:t>
            </a:r>
            <a:br/>
            <a:r>
              <a:rPr>
                <a:latin typeface="Calibri"/>
              </a:rPr>
              <a:t>   per ogni nuovo assunto</a:t>
            </a:r>
            <a:br/>
            <a:r>
              <a:rPr>
                <a:latin typeface="Calibri"/>
              </a:rPr>
              <a:t>▶ Abbonamento: incluso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0000" y="3800000"/>
            <a:ext cx="11600000" cy="600000"/>
          </a:xfrm>
          <a:prstGeom prst="rect">
            <a:avLst/>
          </a:prstGeom>
          <a:solidFill>
            <a:srgbClr val="003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000" y="385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TOTALE risparmio annuo: €10.000 - €20.000/anno  |  Abbonamento: €400 - €800  |  ROI: 10-25x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ROI complessivo per il cliente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900000"/>
          <a:ext cx="114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000"/>
                <a:gridCol w="2850000"/>
                <a:gridCol w="2850000"/>
                <a:gridCol w="28500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Voce di risparmio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Risparmio annuo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Abbonamento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ROI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Ticket service evitati (3-5 ticket/anno)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€1.200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 (Base)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3x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Downtime ridotto (4h/anno evitate)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€800 (Professional)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5x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Corsi aula eliminati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€8.000-15.000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€400-800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10-20x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Onboarding accelerato (per assunto)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€3.000-6.000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0000" y="3200000"/>
            <a:ext cx="11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Il primo tutorial seguito evita già almeno 1 chiamata al service — €200-800.</a:t>
            </a:r>
            <a:br/>
            <a:r>
              <a:rPr>
                <a:latin typeface="Calibri"/>
              </a:rPr>
              <a:t>L'investimento è ripagato nel primo mese. Ogni tutorial successivo è guadagno netto.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Perché il rinnovo è automatico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0000"/>
            <a:ext cx="12192000" cy="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Vantaggi che crescono nel tempo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000" y="1000000"/>
            <a:ext cx="2100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000" y="1000000"/>
            <a:ext cx="2100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000" y="1020000"/>
            <a:ext cx="19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Catalogo crescente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" y="1320000"/>
            <a:ext cx="194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Ogni anno arrivano tutorial</a:t>
            </a:r>
            <a:br/>
            <a:r>
              <a:rPr>
                <a:latin typeface="Calibri"/>
              </a:rPr>
              <a:t>per nuove macchine e procedure.</a:t>
            </a:r>
            <a:br/>
            <a:r>
              <a:rPr>
                <a:latin typeface="Calibri"/>
              </a:rPr>
              <a:t>Più valore, stesso prezzo.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0000" y="1000000"/>
            <a:ext cx="2100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0000" y="1000000"/>
            <a:ext cx="2100000" cy="28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0000" y="1020000"/>
            <a:ext cx="19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Sostituzione manuali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0000" y="1320000"/>
            <a:ext cx="194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I manuali cartacei vengono</a:t>
            </a:r>
            <a:br/>
            <a:r>
              <a:rPr>
                <a:latin typeface="Calibri"/>
              </a:rPr>
              <a:t>eliminati. Il personale si</a:t>
            </a:r>
            <a:br/>
            <a:r>
              <a:rPr>
                <a:latin typeface="Calibri"/>
              </a:rPr>
              <a:t>abitua al formato 3D.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000" y="1000000"/>
            <a:ext cx="2100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000" y="1000000"/>
            <a:ext cx="2100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0000" y="1020000"/>
            <a:ext cx="19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Onboarding infrastr.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0000" y="1320000"/>
            <a:ext cx="194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Nuovi assunti formati in giorni.</a:t>
            </a:r>
            <a:br/>
            <a:r>
              <a:rPr>
                <a:latin typeface="Calibri"/>
              </a:rPr>
              <a:t>La piattaforma diventa</a:t>
            </a:r>
            <a:br/>
            <a:r>
              <a:rPr>
                <a:latin typeface="Calibri"/>
              </a:rPr>
              <a:t>infrastruttura aziendale.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0000" y="1000000"/>
            <a:ext cx="2100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0000" y="1000000"/>
            <a:ext cx="2100000" cy="28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0000" y="1020000"/>
            <a:ext cx="19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Tutorial proprietari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0000" y="1320000"/>
            <a:ext cx="194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Il cliente crea i propri contenuti</a:t>
            </a:r>
            <a:br/>
            <a:r>
              <a:rPr>
                <a:latin typeface="Calibri"/>
              </a:rPr>
              <a:t>con l'editor. Il valore</a:t>
            </a:r>
            <a:br/>
            <a:r>
              <a:rPr>
                <a:latin typeface="Calibri"/>
              </a:rPr>
              <a:t>cresce con l'uso.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00" y="1000000"/>
            <a:ext cx="2100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00000" y="1000000"/>
            <a:ext cx="2100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0000" y="1020000"/>
            <a:ext cx="194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Lock-in positivo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0000" y="1320000"/>
            <a:ext cx="194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Più tutorial si accumulano,</a:t>
            </a:r>
            <a:br/>
            <a:r>
              <a:rPr>
                <a:latin typeface="Calibri"/>
              </a:rPr>
              <a:t>più la piattaforma è</a:t>
            </a:r>
            <a:br/>
            <a:r>
              <a:rPr>
                <a:latin typeface="Calibri"/>
              </a:rPr>
              <a:t>indispensabile.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" y="430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Anche se il prezzo raddoppiasse, CVT costerebbe ancora 10x meno dei competitor enterprise.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Confronto con le alternative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0000"/>
            <a:ext cx="12192000" cy="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Perché non comprare Strivr, Talespin o EON?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0000" y="900000"/>
          <a:ext cx="116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000"/>
                <a:gridCol w="2320000"/>
                <a:gridCol w="2320000"/>
                <a:gridCol w="2320000"/>
                <a:gridCol w="232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Prodotto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Prezzo annuo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VR?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Tempi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Campus Virtual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€400 - €5.000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PMI (95% mercato)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Strivr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$50.000 - $250.000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Sì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Mesi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Fortune 500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Talespin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$30.000 - $150.000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Mesi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Grandi aziende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EON Reality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€10.000 - €50.000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Opz.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Settimane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Education+Enterprise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PTC Vuforia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$5.000 - $100.000+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Opz.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Settimane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Grandi manifatturiere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3000000"/>
            <a:ext cx="11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063"/>
                </a:solidFill>
                <a:latin typeface="Calibri"/>
              </a:defRPr>
            </a:pPr>
            <a:r>
              <a:rPr>
                <a:latin typeface="Calibri"/>
              </a:rPr>
              <a:t>Il 95% del tessuto industriale italiano sono PMI con 5-50 dipendenti.</a:t>
            </a: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Strivr/Talespin: budget annuale &gt; intero budget formazione di una PMI</a:t>
            </a: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Richiedono headset VR (€500-1.000/cad.) + consulenza implementativa</a:t>
            </a: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✗  Tempi di attivazione in mesi, quando serve subito</a:t>
            </a:r>
          </a:p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600" b="1">
                <a:solidFill>
                  <a:srgbClr val="70AD47"/>
                </a:solidFill>
                <a:latin typeface="Calibri"/>
              </a:defRPr>
            </a:pPr>
            <a:r>
              <a:rPr>
                <a:latin typeface="Calibri"/>
              </a:rPr>
              <a:t>CVT è l'unica opzione accessibile per la formazione industriale 3D.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000000"/>
            <a:ext cx="106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"Con €400/anno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2800" b="1">
                <a:solidFill>
                  <a:srgbClr val="ED7D31"/>
                </a:solidFill>
                <a:latin typeface="Calibri Light"/>
              </a:defRPr>
            </a:pPr>
            <a:r>
              <a:rPr>
                <a:latin typeface="Calibri Light"/>
              </a:rPr>
              <a:t>eviti almeno 1 ticket service (€200-800)</a:t>
            </a:r>
          </a:p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e riduci il downtime produzione."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3600000"/>
            <a:ext cx="9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CCEE"/>
                </a:solidFill>
                <a:latin typeface="Calibri"/>
              </a:defRPr>
            </a:pPr>
            <a:r>
              <a:rPr>
                <a:latin typeface="Calibri"/>
              </a:rPr>
              <a:t>10 operatori × 5 tutorial = ROI &gt; 500% annuo</a:t>
            </a:r>
          </a:p>
          <a:p>
            <a:pPr algn="ctr">
              <a:defRPr sz="1800" b="1">
                <a:solidFill>
                  <a:srgbClr val="CCDDFF"/>
                </a:solidFill>
                <a:latin typeface="Calibri"/>
              </a:defRPr>
            </a:pPr>
            <a:r>
              <a:rPr>
                <a:latin typeface="Calibri"/>
              </a:rPr>
              <a:t>Il primo mese ripaga l'intero abbonamento.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5800000"/>
            <a:ext cx="10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AACC"/>
                </a:solidFill>
                <a:latin typeface="Calibri"/>
              </a:defRPr>
            </a:pPr>
            <a:r>
              <a:rPr>
                <a:latin typeface="Calibri"/>
              </a:rPr>
              <a:t>Campus Virtual Training  ■  Analisi strategica  ■  Luglio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DD69FF3CB101498C0F311ED1394DF8" ma:contentTypeVersion="18" ma:contentTypeDescription="Creare un nuovo documento." ma:contentTypeScope="" ma:versionID="7de26e83fe3a741c81a7d57b4c605254">
  <xsd:schema xmlns:xsd="http://www.w3.org/2001/XMLSchema" xmlns:xs="http://www.w3.org/2001/XMLSchema" xmlns:p="http://schemas.microsoft.com/office/2006/metadata/properties" xmlns:ns2="e6e3e365-42fd-4301-a781-4ec573abb2b2" xmlns:ns3="84b587c5-5a8e-4849-ad21-3dd59e008720" targetNamespace="http://schemas.microsoft.com/office/2006/metadata/properties" ma:root="true" ma:fieldsID="765559bfaf22d15f2283e4f504f833a2" ns2:_="" ns3:_="">
    <xsd:import namespace="e6e3e365-42fd-4301-a781-4ec573abb2b2"/>
    <xsd:import namespace="84b587c5-5a8e-4849-ad21-3dd59e0087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Provacolonna"/>
                <xsd:element ref="ns2:Sharedwith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e3e365-42fd-4301-a781-4ec573abb2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69a4bb9d-e77e-4e2c-90ab-11f2499ab0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Provacolonna" ma:index="22" ma:displayName="Prova colonna" ma:format="Dropdown" ma:internalName="Provacolonna">
      <xsd:simpleType>
        <xsd:restriction base="dms:Note"/>
      </xsd:simpleType>
    </xsd:element>
    <xsd:element name="Sharedwith" ma:index="23" nillable="true" ma:displayName="Shared with" ma:format="Dropdown" ma:list="UserInfo" ma:SharePointGroup="0" ma:internalName="Sharedwith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587c5-5a8e-4849-ad21-3dd59e00872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af7336f0-0e12-4434-b0e1-94083d23cd62}" ma:internalName="TaxCatchAll" ma:showField="CatchAllData" ma:web="84b587c5-5a8e-4849-ad21-3dd59e0087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b587c5-5a8e-4849-ad21-3dd59e008720" xsi:nil="true"/>
    <Sharedwith xmlns="e6e3e365-42fd-4301-a781-4ec573abb2b2">
      <UserInfo>
        <DisplayName/>
        <AccountId xsi:nil="true"/>
        <AccountType/>
      </UserInfo>
    </Sharedwith>
    <lcf76f155ced4ddcb4097134ff3c332f xmlns="e6e3e365-42fd-4301-a781-4ec573abb2b2">
      <Terms xmlns="http://schemas.microsoft.com/office/infopath/2007/PartnerControls"/>
    </lcf76f155ced4ddcb4097134ff3c332f>
    <Provacolonna xmlns="e6e3e365-42fd-4301-a781-4ec573abb2b2">.</Provacolonna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A0C212-6343-42CE-B45A-804BAB30C102}">
  <ds:schemaRefs>
    <ds:schemaRef ds:uri="84b587c5-5a8e-4849-ad21-3dd59e008720"/>
    <ds:schemaRef ds:uri="e6e3e365-42fd-4301-a781-4ec573abb2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C0F621C-E314-4F50-B786-9C54227620F8}">
  <ds:schemaRefs>
    <ds:schemaRef ds:uri="84b587c5-5a8e-4849-ad21-3dd59e008720"/>
    <ds:schemaRef ds:uri="e6e3e365-42fd-4301-a781-4ec573abb2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87B90D-EE8F-4463-BC64-2C1B704ABA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revision>2</cp:revision>
  <dcterms:created xsi:type="dcterms:W3CDTF">2018-10-05T08:15:07Z</dcterms:created>
  <dcterms:modified xsi:type="dcterms:W3CDTF">2026-07-07T10:16:50Z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0x010100F7DD69FF3CB101498C0F311ED1394DF8</vt:lpwstr>
  </property>
  <property fmtid="{D5CDD505-2E9C-101B-9397-08002B2CF9AE}" pid="3" name="MediaServiceImageTags">
    <vt:lpwstr/>
  </property>
</Properties>
</file>