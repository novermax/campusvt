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  <a:latin typeface="Segoe UI"/>
              </a:defRPr>
            </a:pPr>
            <a:r>
              <a:t>CAMPUS VIRTUAL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0C0"/>
                </a:solidFill>
                <a:latin typeface="Segoe UI"/>
              </a:defRPr>
            </a:pPr>
            <a:r>
              <a:rPr dirty="0" err="1"/>
              <a:t>Panoramica</a:t>
            </a:r>
            <a:r>
              <a:rPr dirty="0"/>
              <a:t> </a:t>
            </a:r>
            <a:r>
              <a:rPr dirty="0" err="1"/>
              <a:t>Tecnica</a:t>
            </a:r>
            <a:r>
              <a:rPr dirty="0"/>
              <a:t> per </a:t>
            </a:r>
            <a:r>
              <a:rPr dirty="0" err="1"/>
              <a:t>l'Ufficio</a:t>
            </a:r>
            <a:r>
              <a:rPr dirty="0"/>
              <a:t> </a:t>
            </a:r>
            <a:r>
              <a:rPr dirty="0" err="1"/>
              <a:t>Tecnico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114800" y="3291840"/>
            <a:ext cx="39319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Segoe UI"/>
              </a:defRPr>
            </a:pPr>
            <a:r>
              <a:t>Simulatore 3D di procedure di manutenzione industriale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Segoe UI"/>
              </a:defRPr>
            </a:pPr>
            <a:r>
              <a:t>Browser-based  |  Zero installazioni  |  Desktop +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Segoe UI"/>
              </a:defRPr>
            </a:pPr>
            <a:r>
              <a:t>Procedure interamente data-driven (file .cvtscript)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9"/>
                </a:solidFill>
                <a:latin typeface="Segoe UI"/>
              </a:defRPr>
            </a:pPr>
            <a:r>
              <a:t>Three.js r155  |  Vanilla ES6  |  CSS Modulare  |  ~370.000 righe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Stack Tecnologico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Rendering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Three.js r155 (ES Modules)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WebGL, raycasting, GLTF/DRACO/OBJ/STL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Loaders nativi Three.js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Nessun wrapper 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79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Vanilla ES6 — No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Nessun React/Vue/Angular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Nessun bundler (Webpack/Vite)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Import nativi del 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 File Modulari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base.css — reset e fondamenta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components.css — UI riutilizzabili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layout.css — posizionamento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pages.css — stili per pagina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File Server </a:t>
            </a:r>
            <a:r>
              <a:rPr dirty="0" err="1"/>
              <a:t>Statico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python -m http.server 8000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Nessun backend, nessuna API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Nessun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40233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79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Cross-Browser + 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937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Chrome 80+, Firefox 75+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Safari 13+, Edge 80+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Touch nativo con gesture dedicate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3749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rPr dirty="0"/>
              <a:t>Zero </a:t>
            </a:r>
            <a:r>
              <a:rPr dirty="0" err="1"/>
              <a:t>dipendenze</a:t>
            </a:r>
            <a:r>
              <a:rPr dirty="0"/>
              <a:t> build-time: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edita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file,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refresha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Architettura Generale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index.html  →  app.js  →  THREE.js (import ES Module)  →  Scene3D.init()  →  UI.init()  →  Sistemi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Scene3D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scene3d-modular.js  (5.250 righe)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CameraControls.js — orbit, zoom, transizioni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AnimationSystem.js — traslazioni, rotazioni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MultiStepAnimationSystem.js — catene N azioni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354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HighlightSystem.js — feedback visivo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MovementParser.js — parsing comandi 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ParticleSystem.js — effetti particellari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5603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Segoe UI"/>
              </a:defRPr>
            </a:pPr>
            <a:r>
              <a:t>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ui.js  (6.100 righe)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TutorialManager.js — parsing .cvtscript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767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ScenarioManager.js — caricamento scenari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1513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ToolsManager.js — toolbar + cursori SVG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5354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PageManager.js — routing Home/Scenario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919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DynamicToolStyles.js — CSS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ModelManager.js — gestione modelli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560320"/>
            <a:ext cx="3931920" cy="347472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Segoe UI"/>
              </a:defRPr>
            </a:pPr>
            <a:r>
              <a:t>Sistemi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71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js/core/  (23 moduli indipendenti)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3832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DragDropSystem + SnapSystem — drag &amp; snap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30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ScreenSystem — schermi 2D nei modelli 3D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HoldableSystem — oggetti impugnabili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4256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InteractiveObject3D — pulsanti, LED, rotary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773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StepController — trigger multi-sorgente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StepGatingManager — blocco/sblocco pulsanti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468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AnimatedWindowSystem — sequenze immagini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8155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ToolRegistry — registry utensili per scenario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Comunicazione tra moduli: window.* globals (Scene3D, UI, DragDropSystem, ...) — semplice ed efficace per app monolitica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Il Formato .cvtscript — Data-Driven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9184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Tutta la logica delle procedure è definita in file di configurazione .cvtscript (sintassi INI-like). Zero codice JS per nuovi scenari.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home_config.cvtscript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Indice globale degli scenari</a:t>
            </a:r>
            <a:br/>
            <a:r>
              <a:t>+ direzioni svitatura per modello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 w="19050">
            <a:solidFill>
              <a:srgbClr val="808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E696"/>
                </a:solidFill>
                <a:latin typeface="Consolas"/>
              </a:defRPr>
            </a:pPr>
            <a:r>
              <a:t>[Manutenzione_Elettromandrino]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Scenario=scenes/Manutenzione_Elettromandrino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Tutorial=scenes/.../tutorial.cvtscript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000" b="1">
                <a:solidFill>
                  <a:srgbClr val="00E696"/>
                </a:solidFill>
                <a:latin typeface="Consolas"/>
              </a:defRPr>
            </a:pPr>
            <a:r>
              <a:t>[models/vite.glb]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direction=0,0,1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828800"/>
            <a:ext cx="457200" cy="45720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Segoe UI"/>
              </a:defRPr>
            </a:pPr>
            <a:r>
              <a:t>config.cvtscript (per scenario)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Utensili disponibili,</a:t>
            </a:r>
            <a:br/>
            <a:r>
              <a:t>icone, cursori SVG custom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92608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 w="19050">
            <a:solidFill>
              <a:srgbClr val="808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3063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E696"/>
                </a:solidFill>
                <a:latin typeface="Consolas"/>
              </a:defRPr>
            </a:pPr>
            <a:r>
              <a:t>[Tools]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Tool=brugola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Tool=chiave_inglese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000" b="1">
                <a:solidFill>
                  <a:srgbClr val="00E696"/>
                </a:solidFill>
                <a:latin typeface="Consolas"/>
              </a:defRPr>
            </a:pPr>
            <a:r>
              <a:t>[Tool:brugola]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Label=Chiave a Brugola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Icon=utilimages/brugola.png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Cursor=cursors/brugola_normale.svg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tutorial.cvtscript (per scenario)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Procedura step-by-step</a:t>
            </a:r>
            <a:br/>
            <a:r>
              <a:t>completa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926080"/>
            <a:ext cx="3566160" cy="2926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 w="19050">
            <a:solidFill>
              <a:srgbClr val="808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3063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E696"/>
                </a:solidFill>
                <a:latin typeface="Consolas"/>
              </a:defRPr>
            </a:pPr>
            <a:r>
              <a:t>[Step 3 - Rimuovi vite coperchio]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Elemento=models/vite_coperchio.glb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Utensile=ChiaveBrugola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Azione1=svita(0.5)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Descrizione=Svitare la vite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Consolas"/>
              </a:defRPr>
            </a:pPr>
            <a:r>
              <a:t>CameraDistance=0.8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Segoe UI"/>
              </a:defRPr>
            </a:pPr>
            <a:r>
              <a:t>Nuovo scenario = nuova cartella con modelli .glb + 2 file .cvtscript. Nessuna riga di JavaScript.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Flusso Runtime di uno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92608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6576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UI.goToStep(N)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Legge la config dello step</a:t>
            </a:r>
            <a:br/>
            <a:r>
              <a:t>dal tutorial parsato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09160" y="1508760"/>
            <a:ext cx="365760" cy="32004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Camera 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Transizione animata verso</a:t>
            </a:r>
            <a:br/>
            <a:r>
              <a:t>CameraPos/Target/Distance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3716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49640" y="1508760"/>
            <a:ext cx="365760" cy="32004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Highlight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Emissive giallo pulsante</a:t>
            </a:r>
            <a:br/>
            <a:r>
              <a:t>sull'elemento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3337560"/>
            <a:ext cx="365760" cy="32004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Mostra Fumetto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Descrizione step +</a:t>
            </a:r>
            <a:br/>
            <a:r>
              <a:t>icona utensile richiesto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2004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09160" y="3337560"/>
            <a:ext cx="365760" cy="32004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Selezione Utensile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Utente sceglie dalla toolbar</a:t>
            </a:r>
            <a:br/>
            <a:r>
              <a:t>Cursore SVG 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2004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49640" y="3337560"/>
            <a:ext cx="36576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Click Elemento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handleModelAction() verifica</a:t>
            </a:r>
            <a:br/>
            <a:r>
              <a:t>utensile + target corretti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292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68680" y="5166360"/>
            <a:ext cx="365760" cy="3200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Animazione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577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AnimationSystem esegue</a:t>
            </a:r>
            <a:br/>
            <a:r>
              <a:t>Azione1, Azione2, ... in sequenza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0292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709160" y="5166360"/>
            <a:ext cx="365760" cy="32004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DrivenObjects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577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Oggetti slave si muovono</a:t>
            </a:r>
            <a:br/>
            <a:r>
              <a:t>in parallelo al master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50292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549640" y="5166360"/>
            <a:ext cx="365760" cy="32004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Avanzamento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577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Completamento animazione</a:t>
            </a:r>
            <a:br/>
            <a:r>
              <a:t>→ step successivo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Sistema Touch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52142"/>
            <a:ext cx="5486400" cy="2551177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4358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Architettura: 8 moduli in js/touch/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078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index.js — coordinatore principale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TouchEventDispatcher — normalizza eventi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599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GestureRecognizer — riconosce tap, drag, pinch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TouchInputRouter — routing a layer con priorità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7121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TouchCameraHandler — orbit + zoom (pinch 2 dita)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TouchDragHandler — drag&amp;drop + ghost 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98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rPr dirty="0" err="1"/>
              <a:t>TouchUIHandler</a:t>
            </a:r>
            <a:r>
              <a:rPr dirty="0"/>
              <a:t> — </a:t>
            </a:r>
            <a:r>
              <a:rPr dirty="0" err="1"/>
              <a:t>interazione</a:t>
            </a:r>
            <a:r>
              <a:rPr dirty="0"/>
              <a:t> UI 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68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TouchInteractive3DHandler — pulsanti 3D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52143"/>
            <a:ext cx="5303520" cy="2533558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Priorità Routing (determineLayer)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011680"/>
            <a:ext cx="32004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Overlay, bottoni 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450592"/>
            <a:ext cx="320040" cy="2743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4505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Segoe UI"/>
              </a:defRPr>
            </a:pPr>
            <a:r>
              <a:t>Interactive3D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450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Pulsanti 3D, LED, rotary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889504"/>
            <a:ext cx="320040" cy="27432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Segoe UI"/>
              </a:defRPr>
            </a:pPr>
            <a:r>
              <a:t>Object3D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89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Modelli trascinabili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328416"/>
            <a:ext cx="320040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3284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Segoe UI"/>
              </a:defRPr>
            </a:pPr>
            <a:r>
              <a:t>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328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Orbit, zoom (fallback)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REGOLA FONDAMENTALE: Un solo evento per tap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E696"/>
                </a:solidFill>
                <a:latin typeface="Segoe UI"/>
              </a:defRPr>
            </a:pPr>
            <a:r>
              <a:t>Tap su elemento con azione tutorial  →  SOLO esecuzione azione (NO pivot camera)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D2FF"/>
                </a:solidFill>
                <a:latin typeface="Segoe UI"/>
              </a:defRPr>
            </a:pPr>
            <a:r>
              <a:t>Tap su oggetto generico  →  SOLO pivot camera (NO azione)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08099"/>
                </a:solidFill>
                <a:latin typeface="Segoe UI"/>
              </a:defRPr>
            </a:pPr>
            <a:r>
              <a:t>Desktop e Touch sono sistemi separati: handler mouse si disabilitano quando TouchSystem è attivo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59"/>
            <a:ext cx="11064240" cy="1343501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Segoe UI"/>
              </a:defRPr>
            </a:pPr>
            <a:r>
              <a:t>Gesture Attive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29BFE"/>
                </a:solidFill>
                <a:latin typeface="Segoe UI"/>
              </a:defRPr>
            </a:pPr>
            <a:r>
              <a:t>1 dito tap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8064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Azione tool OPPURE pivot camera (mai entrambi)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035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29BFE"/>
                </a:solidFill>
                <a:latin typeface="Segoe UI"/>
              </a:defRPr>
            </a:pPr>
            <a:r>
              <a:t>1 dito drag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6035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rPr dirty="0"/>
              <a:t>Camera orbit (layer=CAMERA) </a:t>
            </a:r>
            <a:r>
              <a:rPr dirty="0" err="1"/>
              <a:t>oppure</a:t>
            </a:r>
            <a:r>
              <a:rPr dirty="0"/>
              <a:t> </a:t>
            </a:r>
            <a:r>
              <a:rPr dirty="0" err="1"/>
              <a:t>DragDrop</a:t>
            </a:r>
            <a:r>
              <a:rPr dirty="0"/>
              <a:t> (se step ha </a:t>
            </a:r>
            <a:r>
              <a:rPr dirty="0" err="1"/>
              <a:t>DragDrop</a:t>
            </a:r>
            <a:r>
              <a:rPr dirty="0"/>
              <a:t>=true)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29BFE"/>
                </a:solidFill>
                <a:latin typeface="Segoe UI"/>
              </a:defRPr>
            </a:pPr>
            <a:r>
              <a:t>2 dita pinch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6263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Zoom (sensitivity: 0.003)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492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29BFE"/>
                </a:solidFill>
                <a:latin typeface="Segoe UI"/>
              </a:defRPr>
            </a:pPr>
            <a:r>
              <a:rPr dirty="0"/>
              <a:t>2 </a:t>
            </a:r>
            <a:r>
              <a:rPr dirty="0" err="1"/>
              <a:t>dita</a:t>
            </a:r>
            <a:r>
              <a:rPr dirty="0"/>
              <a:t> drag / double-tap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649224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rPr dirty="0"/>
              <a:t>DISABILITATI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DragDrop + Snap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Coordinate Fisse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14600" cy="640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Globali o per-oggetto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SnapPoint=(0.5,0.2,0.3)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Tutti gli oggetti snappano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ai punti definiti.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Auto-detect formato: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assenza ":" = globale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Pivot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874519"/>
            <a:ext cx="2514600" cy="640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Snap al pivot, non al centro BB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SnapPoint=pivot:(x,y,z)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060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Usa il pivot point del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modello invece del centro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del bounding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3716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Segoe UI"/>
              </a:defRPr>
            </a:pPr>
            <a:r>
              <a:t>Offset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9" y="1874519"/>
            <a:ext cx="2514600" cy="640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Dalla posizione originale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SnapPoint=offset:(0,0,0.02)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060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Snap relativo alla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posizione di caricamento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+ offset specificato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3716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Segoe UI"/>
              </a:defRPr>
            </a:pPr>
            <a:r>
              <a:t>SnapTargets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874519"/>
            <a:ext cx="2514600" cy="640080"/>
          </a:xfrm>
          <a:prstGeom prst="roundRect">
            <a:avLst>
              <a:gd name="adj" fmla="val 5000"/>
            </a:avLst>
          </a:prstGeom>
          <a:solidFill>
            <a:srgbClr val="0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599" y="1920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Posizione originale di altri modelli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00E696"/>
                </a:solidFill>
                <a:latin typeface="Consolas"/>
              </a:defRPr>
            </a:pPr>
            <a:r>
              <a:t>SnapTargets=foro_1_original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060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Snap alla posizione dove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un altro modello è stato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B0B0C0"/>
                </a:solidFill>
                <a:latin typeface="Segoe UI"/>
              </a:defRPr>
            </a:pPr>
            <a:r>
              <a:t>caricato (es. vite → foro)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Ghost Mesh (Touch)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Mesh semi-trasparente segue il dito in real-time durante il drag.  Verde = snap raggiungibile  |  Rosso = fuori range.  Soglia: DragDropDistance (default 0.3)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808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Riferimento _original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modello_original è un riferimento virtuale creato automaticamente alla posizione di caricamento. Usato in SnapTargets e traslazioni relative.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Sistemi Interattivi Avanzati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92608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ScreenSystem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Schermi 2D nei modelli 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• Schermi con viste multiple (GLB separati)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• Hotspot cliccabili (posizione, size, label)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• Navigazione tra viste (NextView=)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• Azioni su click (animazioni, suoni)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5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• Camera perpendicolare automatica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Segoe UI"/>
              </a:defRPr>
            </a:pPr>
            <a:r>
              <a:t>• Simula pannelli controllo CNC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InteractiveObject3D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Oggetti complessi con figli interattivi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onsolas"/>
              </a:defRPr>
            </a:pPr>
            <a:r>
              <a:t>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click → evento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42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onsolas"/>
              </a:defRPr>
            </a:pPr>
            <a:r>
              <a:t>rotary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542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click → cicla stati + rotazione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95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onsolas"/>
              </a:defRPr>
            </a:pPr>
            <a:r>
              <a:t>indicator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8895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visibilità da stato (LED on/off)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369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onsolas"/>
              </a:defRPr>
            </a:pPr>
            <a:r>
              <a:t>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369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visibilità da currentScreen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99"/>
                </a:solidFill>
                <a:latin typeface="Segoe UI"/>
              </a:defRPr>
            </a:pPr>
            <a:r>
              <a:t>StateGroup: varianti mutuamente esclusive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371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Segoe UI"/>
              </a:defRPr>
            </a:pPr>
            <a:r>
              <a:t>StepController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Trigger da sorgenti diverse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Segoe UI"/>
              </a:defRPr>
            </a:pPr>
            <a:r>
              <a:t>Physical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Pulsante 3D (mesh click)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Segoe UI"/>
              </a:defRPr>
            </a:pPr>
            <a:r>
              <a:t>Screen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Hotspot su schermo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834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Segoe UI"/>
              </a:defRPr>
            </a:pPr>
            <a:r>
              <a:t>Holdable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834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Oggetto in mano (use)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99"/>
                </a:solidFill>
                <a:latin typeface="Segoe UI"/>
              </a:defRPr>
            </a:pPr>
            <a:r>
              <a:t>StepGatingManager:</a:t>
            </a:r>
            <a:br/>
            <a:r>
              <a:t>stepIndex = -1 → tutti i pulsanti bloccati. ActiveButtons= abilita selettivamente.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8912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Segoe UI"/>
              </a:defRPr>
            </a:pPr>
            <a:r>
              <a:t>HoldableSystem — Oggetti Impugnabili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HoldAction=pick  →  prende oggetto (attaccato alla camera)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HoldAction=release  →  rilascia oggetto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HoldState=held  →  step richiede oggetto già in mano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08099"/>
                </a:solidFill>
                <a:latin typeface="Segoe UI"/>
              </a:defRPr>
            </a:pPr>
            <a:r>
              <a:t>Usato per: telecomandi, strumenti di misura, ecc.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389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4480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AnimatedWindowSystem — Sequenze Immagini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Overlay 2D con sequenza immagini (frame-by-frame)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Posizionamento: center, top-left, coordinate custom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MaxTriggers = N trigger avanti+indietro prima di chiusura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08099"/>
                </a:solidFill>
                <a:latin typeface="Segoe UI"/>
              </a:defRPr>
            </a:pPr>
            <a:r>
              <a:t>Usato per: istruzioni visive, diagrammi, schemi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35039"/>
            <a:ext cx="11064240" cy="743829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AutoExecute / Autoaction — Step Automatici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rPr dirty="0" err="1"/>
              <a:t>AutoExecute</a:t>
            </a:r>
            <a:r>
              <a:rPr dirty="0"/>
              <a:t>=true → </a:t>
            </a:r>
            <a:r>
              <a:rPr dirty="0" err="1"/>
              <a:t>animazione</a:t>
            </a:r>
            <a:r>
              <a:rPr dirty="0"/>
              <a:t> </a:t>
            </a:r>
            <a:r>
              <a:rPr dirty="0" err="1"/>
              <a:t>automatica</a:t>
            </a:r>
            <a:r>
              <a:rPr dirty="0"/>
              <a:t> a T+300ms  |  </a:t>
            </a:r>
            <a:r>
              <a:rPr dirty="0" err="1"/>
              <a:t>Autoaction</a:t>
            </a:r>
            <a:r>
              <a:rPr dirty="0"/>
              <a:t>=true → auto-equip </a:t>
            </a:r>
            <a:r>
              <a:rPr dirty="0" err="1"/>
              <a:t>utensile</a:t>
            </a:r>
            <a:r>
              <a:rPr dirty="0"/>
              <a:t> + auto-</a:t>
            </a:r>
            <a:r>
              <a:rPr dirty="0" err="1"/>
              <a:t>esegui</a:t>
            </a:r>
            <a:r>
              <a:rPr dirty="0"/>
              <a:t> + auto-</a:t>
            </a:r>
            <a:r>
              <a:rPr dirty="0" err="1"/>
              <a:t>avanza</a:t>
            </a:r>
            <a:r>
              <a:rPr dirty="0"/>
              <a:t>  |  Con </a:t>
            </a:r>
            <a:r>
              <a:rPr dirty="0" err="1"/>
              <a:t>DragDrop</a:t>
            </a:r>
            <a:r>
              <a:rPr dirty="0"/>
              <a:t>: auto-snap </a:t>
            </a:r>
            <a:r>
              <a:rPr dirty="0" err="1"/>
              <a:t>senza</a:t>
            </a:r>
            <a:r>
              <a:rPr dirty="0"/>
              <a:t> drag </a:t>
            </a:r>
            <a:r>
              <a:rPr dirty="0" err="1"/>
              <a:t>utente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Azioni Animate — Riferimento Comandi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4747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8099"/>
                </a:solidFill>
                <a:latin typeface="Segoe UI"/>
              </a:defRPr>
            </a:pPr>
            <a:r>
              <a:t>Comando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8099"/>
                </a:solidFill>
                <a:latin typeface="Segoe UI"/>
              </a:defRPr>
            </a:pPr>
            <a:r>
              <a:t>Descrizione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411480"/>
          </a:xfrm>
          <a:prstGeom prst="roundRect">
            <a:avLst>
              <a:gd name="adj" fmla="val 5000"/>
            </a:avLst>
          </a:prstGeom>
          <a:solidFill>
            <a:srgbClr val="141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traslazione:(x,y,z,durata)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847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Movimento lineare a coordinate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rotazione:(rx,ry,rz,durata)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Rotazione (in gradi)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06624"/>
            <a:ext cx="11064240" cy="411480"/>
          </a:xfrm>
          <a:prstGeom prst="roundRect">
            <a:avLst>
              <a:gd name="adj" fmla="val 5000"/>
            </a:avLst>
          </a:prstGeom>
          <a:solidFill>
            <a:srgbClr val="141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appoggia(durata)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24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Posiziona a Y=0 (calcola BB automaticamente)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svita / svita(0.8)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638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Rotazione + traslazione lungo direction (da home_config)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84448"/>
            <a:ext cx="11064240" cy="411480"/>
          </a:xfrm>
          <a:prstGeom prst="roundRect">
            <a:avLst>
              <a:gd name="adj" fmla="val 5000"/>
            </a:avLst>
          </a:prstGeom>
          <a:solidFill>
            <a:srgbClr val="141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02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avvita / avvita(0.8)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027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Inverso di svita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onsolas"/>
              </a:defRPr>
            </a:pPr>
            <a:r>
              <a:t>estrai / estrai(0.6)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041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Traslazione lungo direction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62272"/>
            <a:ext cx="11064240" cy="411480"/>
          </a:xfrm>
          <a:prstGeom prst="roundRect">
            <a:avLst>
              <a:gd name="adj" fmla="val 5000"/>
            </a:avLst>
          </a:prstGeom>
          <a:solidFill>
            <a:srgbClr val="141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onsolas"/>
              </a:defRPr>
            </a:pPr>
            <a:r>
              <a:t>inserisci / inserisci(0.6)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4805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Inverso di estrai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29BFE"/>
                </a:solidFill>
                <a:latin typeface="Consolas"/>
              </a:defRPr>
            </a:pPr>
            <a:r>
              <a:t>oscillazione:ref,(pA,pB,cicli,durata)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9194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Movimento alternato ripetitivo (es. pompaggio)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Segoe UI"/>
              </a:defRPr>
            </a:pPr>
            <a:r>
              <a:t>DrivenObjects — Movimenti Paralleli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DrivenObjects=flangia.glb,traslazione:(0,0,0.1,0.5)     →  azione indipendente in parallelo al master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0C0"/>
                </a:solidFill>
                <a:latin typeface="Segoe UI"/>
              </a:defRPr>
            </a:pPr>
            <a:r>
              <a:t>DrivenObjects=tubograsso.glb,follow                       →  segue rigidamente il master 1:1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08099"/>
                </a:solidFill>
                <a:latin typeface="Segoe UI"/>
              </a:defRPr>
            </a:pPr>
            <a:r>
              <a:t>Solo il master controlla l'avanzamento. I driven non bloccano il tutorial.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Debug Console + Fast-Forward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1089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Scene3D.getCameraInfo()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posizione + sintassi pronta per tutorial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Scene3D.setCameraFromInfo({...})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imposta camera programmaticamente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Scene3D.exportCurrentModelPositions()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download Posizione=/Rotazione=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Scene3D.listChildNames(model)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77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nomi per TargetChild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8016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Segoe UI"/>
              </a:defRPr>
            </a:pPr>
            <a:r>
              <a:t>Navigazione Tutorial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jumpToStep(5)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salta con fast-forward (applica trasformazioni precedenti)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jumpToStep(5, false)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salta senza fast-forward (solo debug)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0632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listSteps()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lista tutti gli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findStep("vite")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977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cerca per keyword, auto-jump se 1 risultato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28016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Segoe UI"/>
              </a:defRPr>
            </a:pPr>
            <a:r>
              <a:t>Sistemi Interattivi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DragDropSystem.debugSnapSystem()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stato snap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ScreenSystem.debugInfo()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stato schermi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0632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InteractiveObject3D.getState("pulpito")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stato corrente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StepController.simulateTrigger("physical", "pulpito.Btn")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977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9"/>
                </a:solidFill>
                <a:latin typeface="Segoe UI"/>
              </a:defRPr>
            </a:pPr>
            <a:r>
              <a:t>simula input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6344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Fast-Forward: jumpToStep(N)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Quando si salta a step N, il sistema applica retroattivamente tutte le trasformazioni degli step 0..N-1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in modo istantaneo. La scena risulta coerente come se l'utente avesse completato ogni step.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B0B0C0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00E696"/>
                </a:solidFill>
                <a:latin typeface="Segoe UI"/>
              </a:defRPr>
            </a:pPr>
            <a:r>
              <a:t>Trasformazioni applicate: Posizione, Rotazione, svita, avvita, estrai, inserisci, traslazione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9F43"/>
                </a:solidFill>
                <a:latin typeface="Segoe UI"/>
              </a:defRPr>
            </a:pPr>
            <a:r>
              <a:t>Timeout sicurezza: 5 secondi max per step, poi avanza comunque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0D2FF"/>
                </a:solidFill>
                <a:latin typeface="Segoe UI"/>
              </a:defRPr>
            </a:pPr>
            <a:r>
              <a:t>Ereditarietà camera: le proprietà camera si ereditano dal contesto precedente (sezione o step)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Riepilogo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031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Browser-native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37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Three.js + Vanilla ES6, nessun framework, nessun build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42316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Segoe UI"/>
              </a:defRPr>
            </a:pPr>
            <a:r>
              <a:t>Data-driven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14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Nuovi scenari creati interamente con file .cvtscript, zero codice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0040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Modulare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918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23+ moduli core indipendenti, ciascuno con API globale esposta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977639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A29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Segoe UI"/>
              </a:defRPr>
            </a:pPr>
            <a:r>
              <a:t>Cross-platform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6907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Desktop (mouse) + Mobile (touch) con sistemi completamente separati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75488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Interattivo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8463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Schermi, pulsanti 3D, LED, drag&amp;drop con snap magnetico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53212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Debug-friendly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62355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Console ricca per iterazione rapida su posizioni camera e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4008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9"/>
                </a:solidFill>
                <a:latin typeface="Segoe UI"/>
              </a:defRPr>
            </a:pPr>
            <a:r>
              <a:t>~370k righe  |  ~50 file JS  |  2 scenari attivi  |  0 dipendenze build-time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1498</Words>
  <Application>Microsoft Office PowerPoint</Application>
  <PresentationFormat>Widescreen</PresentationFormat>
  <Paragraphs>309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Massimiliano Loffredo</cp:lastModifiedBy>
  <cp:revision>4</cp:revision>
  <dcterms:created xsi:type="dcterms:W3CDTF">2013-01-27T09:14:16Z</dcterms:created>
  <dcterms:modified xsi:type="dcterms:W3CDTF">2026-04-05T05:59:44Z</dcterms:modified>
  <cp:category/>
</cp:coreProperties>
</file>