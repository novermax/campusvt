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293" r:id="rId5"/>
    <p:sldId id="581" r:id="rId6"/>
    <p:sldId id="589" r:id="rId7"/>
    <p:sldId id="580" r:id="rId8"/>
    <p:sldId id="588" r:id="rId9"/>
    <p:sldId id="555" r:id="rId10"/>
    <p:sldId id="592" r:id="rId11"/>
    <p:sldId id="591" r:id="rId12"/>
    <p:sldId id="585" r:id="rId13"/>
    <p:sldId id="593" r:id="rId14"/>
    <p:sldId id="594" r:id="rId15"/>
    <p:sldId id="595" r:id="rId16"/>
    <p:sldId id="596" r:id="rId17"/>
    <p:sldId id="597" r:id="rId18"/>
    <p:sldId id="598" r:id="rId19"/>
    <p:sldId id="599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8793585-A4ED-4956-9694-7D0F8A9C40DD}">
          <p14:sldIdLst>
            <p14:sldId id="293"/>
            <p14:sldId id="581"/>
            <p14:sldId id="589"/>
            <p14:sldId id="580"/>
            <p14:sldId id="588"/>
            <p14:sldId id="555"/>
            <p14:sldId id="592"/>
            <p14:sldId id="591"/>
            <p14:sldId id="585"/>
            <p14:sldId id="593"/>
            <p14:sldId id="594"/>
            <p14:sldId id="595"/>
            <p14:sldId id="596"/>
            <p14:sldId id="597"/>
            <p14:sldId id="598"/>
            <p14:sldId id="599"/>
          </p14:sldIdLst>
        </p14:section>
        <p14:section name="Rilancio" id="{396376CD-9E76-46CD-80A7-9DD414DC58C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6FD7FF8-61F1-E6D6-287A-F94E52DCE007}" name="Valentina Giampaolo" initials="VG" userId="S::vgiampaolo@corp.scmgroup.com::62c45ab0-7622-40dd-bcfa-03b1d5e6053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A600"/>
    <a:srgbClr val="00528D"/>
    <a:srgbClr val="003063"/>
    <a:srgbClr val="BBB9B9"/>
    <a:srgbClr val="002060"/>
    <a:srgbClr val="FA66E1"/>
    <a:srgbClr val="706E6E"/>
    <a:srgbClr val="FFFFFF"/>
    <a:srgbClr val="E7E6E6"/>
    <a:srgbClr val="36A4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D075BE-A1B0-62A1-ED48-C86C38711FE7}" v="1342" dt="2026-07-07T08:30:22.849"/>
    <p1510:client id="{66273D9F-C476-AF06-E0CE-B72318CE670E}" v="10" dt="2026-07-07T08:17:09.5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8" y="2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A120B-AC60-E248-A448-8E7243714845}" type="datetimeFigureOut">
              <a:rPr lang="it-IT" smtClean="0"/>
              <a:pPr/>
              <a:t>07/07/2026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2D170-DAAE-2743-BDAF-7DD4A4487885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5242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CAA5-61D2-7A40-8875-E1185FCAC63A}" type="datetimeFigureOut">
              <a:rPr lang="it-IT" smtClean="0"/>
              <a:pPr/>
              <a:t>07/07/2026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E25-04C1-FA46-BE28-6FFBB29E31D2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8867386"/>
      </p:ext>
    </p:extLst>
  </p:cSld>
  <p:clrMapOvr>
    <a:masterClrMapping/>
  </p:clrMapOvr>
  <p:transition spd="slow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CAA5-61D2-7A40-8875-E1185FCAC63A}" type="datetimeFigureOut">
              <a:rPr lang="it-IT" smtClean="0"/>
              <a:pPr/>
              <a:t>07/07/2026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E25-04C1-FA46-BE28-6FFBB29E31D2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642500"/>
      </p:ext>
    </p:extLst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CAA5-61D2-7A40-8875-E1185FCAC63A}" type="datetimeFigureOut">
              <a:rPr lang="it-IT" smtClean="0"/>
              <a:pPr/>
              <a:t>07/07/2026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E25-04C1-FA46-BE28-6FFBB29E31D2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5372627"/>
      </p:ext>
    </p:extLst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CAA5-61D2-7A40-8875-E1185FCAC63A}" type="datetimeFigureOut">
              <a:rPr lang="it-IT" smtClean="0"/>
              <a:pPr/>
              <a:t>07/07/2026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E25-04C1-FA46-BE28-6FFBB29E31D2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796347"/>
      </p:ext>
    </p:extLst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CAA5-61D2-7A40-8875-E1185FCAC63A}" type="datetimeFigureOut">
              <a:rPr lang="it-IT" smtClean="0"/>
              <a:pPr/>
              <a:t>07/07/2026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E25-04C1-FA46-BE28-6FFBB29E31D2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599780"/>
      </p:ext>
    </p:extLst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CAA5-61D2-7A40-8875-E1185FCAC63A}" type="datetimeFigureOut">
              <a:rPr lang="it-IT" smtClean="0"/>
              <a:pPr/>
              <a:t>07/07/2026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E25-04C1-FA46-BE28-6FFBB29E31D2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12859"/>
      </p:ext>
    </p:extLst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CAA5-61D2-7A40-8875-E1185FCAC63A}" type="datetimeFigureOut">
              <a:rPr lang="it-IT" smtClean="0"/>
              <a:pPr/>
              <a:t>07/07/2026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E25-04C1-FA46-BE28-6FFBB29E31D2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8280444"/>
      </p:ext>
    </p:extLst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CAA5-61D2-7A40-8875-E1185FCAC63A}" type="datetimeFigureOut">
              <a:rPr lang="it-IT" smtClean="0"/>
              <a:pPr/>
              <a:t>07/07/2026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E25-04C1-FA46-BE28-6FFBB29E31D2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8819298"/>
      </p:ext>
    </p:extLst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CAA5-61D2-7A40-8875-E1185FCAC63A}" type="datetimeFigureOut">
              <a:rPr lang="it-IT" smtClean="0"/>
              <a:pPr/>
              <a:t>07/07/2026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E25-04C1-FA46-BE28-6FFBB29E31D2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18998"/>
      </p:ext>
    </p:extLst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CAA5-61D2-7A40-8875-E1185FCAC63A}" type="datetimeFigureOut">
              <a:rPr lang="it-IT" smtClean="0"/>
              <a:pPr/>
              <a:t>07/07/2026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E25-04C1-FA46-BE28-6FFBB29E31D2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1152336"/>
      </p:ext>
    </p:extLst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2CAA5-61D2-7A40-8875-E1185FCAC63A}" type="datetimeFigureOut">
              <a:rPr lang="it-IT" smtClean="0"/>
              <a:pPr/>
              <a:t>07/07/2026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E25-04C1-FA46-BE28-6FFBB29E31D2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6356974"/>
      </p:ext>
    </p:extLst>
  </p:cSld>
  <p:clrMapOvr>
    <a:masterClrMapping/>
  </p:clrMapOvr>
  <p:transition spd="slow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-138037" y="6485861"/>
            <a:ext cx="552892" cy="212653"/>
          </a:xfrm>
          <a:ln/>
        </p:spPr>
        <p:txBody>
          <a:bodyPr wrap="none" lIns="0" tIns="0" rIns="0" bIns="0"/>
          <a:lstStyle>
            <a:lvl1pPr algn="r">
              <a:defRPr sz="933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99DC4F37-B519-4A17-91A4-8B20F26F4DDE}" type="slidenum">
              <a:rPr lang="it-IT" smtClean="0"/>
              <a:pPr>
                <a:defRPr/>
              </a:pPr>
              <a:t>‹N›</a:t>
            </a:fld>
            <a:endParaRPr lang="it-IT"/>
          </a:p>
        </p:txBody>
      </p:sp>
      <p:sp>
        <p:nvSpPr>
          <p:cNvPr id="8" name="Rettangolo 7"/>
          <p:cNvSpPr/>
          <p:nvPr userDrawn="1"/>
        </p:nvSpPr>
        <p:spPr>
          <a:xfrm>
            <a:off x="2" y="0"/>
            <a:ext cx="402567" cy="6142008"/>
          </a:xfrm>
          <a:prstGeom prst="rect">
            <a:avLst/>
          </a:prstGeom>
          <a:solidFill>
            <a:srgbClr val="0026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400"/>
          </a:p>
        </p:txBody>
      </p:sp>
      <p:pic>
        <p:nvPicPr>
          <p:cNvPr id="7" name="Picture 3" descr="D:\Google Drive\LAVORI\REBRANDING\ATTIVITA' REBRANDING\CORPORATE IDENTITY\LOGHI 2017\SCM_GROUP_LOGO_037\SCM_GROUP_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156265" y="6227571"/>
            <a:ext cx="1698116" cy="48524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15266459"/>
      </p:ext>
    </p:extLst>
  </p:cSld>
  <p:clrMapOvr>
    <a:masterClrMapping/>
  </p:clrMapOvr>
  <p:transition spd="slow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 userDrawn="1"/>
        </p:nvSpPr>
        <p:spPr>
          <a:xfrm>
            <a:off x="397933" y="0"/>
            <a:ext cx="11794067" cy="61420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it-IT" alt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-138037" y="6485860"/>
            <a:ext cx="552892" cy="212653"/>
          </a:xfrm>
          <a:ln/>
        </p:spPr>
        <p:txBody>
          <a:bodyPr wrap="none" lIns="0" tIns="0" rIns="0" bIns="0" numCol="1"/>
          <a:lstStyle>
            <a:lvl1pPr algn="r">
              <a:defRPr sz="933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99DC4F37-B519-4A17-91A4-8B20F26F4DDE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  <p:sp>
        <p:nvSpPr>
          <p:cNvPr id="8" name="Rettangolo 7"/>
          <p:cNvSpPr/>
          <p:nvPr userDrawn="1"/>
        </p:nvSpPr>
        <p:spPr>
          <a:xfrm>
            <a:off x="2" y="0"/>
            <a:ext cx="402567" cy="6142008"/>
          </a:xfrm>
          <a:prstGeom prst="rect">
            <a:avLst/>
          </a:prstGeom>
          <a:solidFill>
            <a:srgbClr val="0026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it-IT" altLang="it-IT"/>
          </a:p>
        </p:txBody>
      </p:sp>
      <p:pic>
        <p:nvPicPr>
          <p:cNvPr id="9" name="Picture 3" descr="D:\Google Drive\LAVORI\REBRANDING\ATTIVITA' REBRANDING\CORPORATE IDENTITY\LOGHI 2017\SCM_GROUP_LOGO_037\SCM_GROUP_LOGO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>
          <a:xfrm>
            <a:off x="10156265" y="6227570"/>
            <a:ext cx="1698116" cy="48524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18184557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19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2CAA5-61D2-7A40-8875-E1185FCAC63A}" type="datetimeFigureOut">
              <a:rPr lang="it-IT" smtClean="0"/>
              <a:pPr/>
              <a:t>07/07/2026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7DFE25-04C1-FA46-BE28-6FFBB29E31D2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0560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9" r:id="rId12"/>
    <p:sldLayoutId id="2147483680" r:id="rId13"/>
  </p:sldLayoutIdLst>
  <p:transition spd="slow">
    <p:wipe dir="r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novermax.github.io/campusvt/" TargetMode="External"/><Relationship Id="rId2" Type="http://schemas.openxmlformats.org/officeDocument/2006/relationships/slideLayout" Target="../slideLayouts/slideLayout13.xml"/><Relationship Id="rId1" Type="http://schemas.openxmlformats.org/officeDocument/2006/relationships/video" Target="https://www.youtube.com/embed/gHR-kJEjK60?feature=oembed" TargetMode="Externa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COVER_P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20360"/>
          </a:xfrm>
          <a:prstGeom prst="rect">
            <a:avLst/>
          </a:prstGeom>
        </p:spPr>
      </p:pic>
      <p:sp>
        <p:nvSpPr>
          <p:cNvPr id="6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-138037" y="6485861"/>
            <a:ext cx="552892" cy="212653"/>
          </a:xfrm>
        </p:spPr>
        <p:txBody>
          <a:bodyPr numCol="1"/>
          <a:lstStyle/>
          <a:p>
            <a:pPr>
              <a:defRPr/>
            </a:pPr>
            <a:fld id="{99DC4F37-B519-4A17-91A4-8B20F26F4DDE}" type="slidenum">
              <a:rPr lang="it-IT" altLang="it-IT" smtClean="0"/>
              <a:pPr>
                <a:defRPr/>
              </a:pPr>
              <a:t>1</a:t>
            </a:fld>
            <a:endParaRPr lang="it-IT" altLang="it-IT"/>
          </a:p>
        </p:txBody>
      </p:sp>
      <p:pic>
        <p:nvPicPr>
          <p:cNvPr id="7" name="Picture 2" descr="D:\Google Drive\00-Campus Program Plan\A-04_Concept Luoghi e Immagine\Materiali Campus (Komma)\Loghi Scm Group\SCM_GROUP_LOGO\SCM_GROUP_LOGO_tagline_098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54405" y="6215860"/>
            <a:ext cx="2015678" cy="576000"/>
          </a:xfrm>
          <a:prstGeom prst="rect">
            <a:avLst/>
          </a:prstGeom>
          <a:noFill/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61CB067C-B78D-C675-81EB-3082699F9BD3}"/>
              </a:ext>
            </a:extLst>
          </p:cNvPr>
          <p:cNvSpPr txBox="1"/>
          <p:nvPr/>
        </p:nvSpPr>
        <p:spPr>
          <a:xfrm>
            <a:off x="6853373" y="2481338"/>
            <a:ext cx="4501721" cy="3636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200"/>
              </a:lnSpc>
            </a:pPr>
            <a:r>
              <a:rPr lang="en-US" sz="3600" b="1">
                <a:solidFill>
                  <a:srgbClr val="003063"/>
                </a:solidFill>
                <a:latin typeface="Arial"/>
                <a:ea typeface="+mn-lt"/>
                <a:cs typeface="Arial"/>
              </a:rPr>
              <a:t>Campus Virtual Training</a:t>
            </a:r>
            <a:endParaRPr lang="en-US" sz="3600" b="1">
              <a:solidFill>
                <a:srgbClr val="003063"/>
              </a:solidFill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endParaRPr lang="en-US" sz="1100">
              <a:solidFill>
                <a:srgbClr val="003063"/>
              </a:solidFill>
              <a:ea typeface="+mn-lt"/>
              <a:cs typeface="+mn-lt"/>
            </a:endParaRPr>
          </a:p>
          <a:p>
            <a:r>
              <a:rPr lang="en-US" sz="1400" i="1" err="1">
                <a:solidFill>
                  <a:srgbClr val="003063"/>
                </a:solidFill>
                <a:latin typeface="Arial"/>
                <a:ea typeface="Calibri"/>
                <a:cs typeface="Arial"/>
              </a:rPr>
              <a:t>Formazione</a:t>
            </a:r>
            <a:r>
              <a:rPr lang="en-US" sz="1400" i="1">
                <a:solidFill>
                  <a:srgbClr val="003063"/>
                </a:solidFill>
                <a:latin typeface="Arial"/>
                <a:ea typeface="Calibri"/>
                <a:cs typeface="Arial"/>
              </a:rPr>
              <a:t> </a:t>
            </a:r>
            <a:r>
              <a:rPr lang="en-US" sz="1400" i="1" err="1">
                <a:solidFill>
                  <a:srgbClr val="003063"/>
                </a:solidFill>
                <a:latin typeface="Arial"/>
                <a:ea typeface="Calibri"/>
                <a:cs typeface="Arial"/>
              </a:rPr>
              <a:t>immersiva</a:t>
            </a:r>
            <a:r>
              <a:rPr lang="en-US" sz="1400" i="1">
                <a:solidFill>
                  <a:srgbClr val="003063"/>
                </a:solidFill>
                <a:latin typeface="Arial"/>
                <a:ea typeface="Calibri"/>
                <a:cs typeface="Arial"/>
              </a:rPr>
              <a:t> per </a:t>
            </a:r>
            <a:r>
              <a:rPr lang="en-US" sz="1400" i="1" err="1">
                <a:solidFill>
                  <a:srgbClr val="003063"/>
                </a:solidFill>
                <a:latin typeface="Arial"/>
                <a:ea typeface="Calibri"/>
                <a:cs typeface="Arial"/>
              </a:rPr>
              <a:t>migliorare</a:t>
            </a:r>
            <a:r>
              <a:rPr lang="en-US" sz="1400" i="1">
                <a:solidFill>
                  <a:srgbClr val="003063"/>
                </a:solidFill>
                <a:latin typeface="Arial"/>
                <a:ea typeface="Calibri"/>
                <a:cs typeface="Arial"/>
              </a:rPr>
              <a:t> </a:t>
            </a:r>
            <a:r>
              <a:rPr lang="en-US" sz="1400" i="1" err="1">
                <a:solidFill>
                  <a:srgbClr val="003063"/>
                </a:solidFill>
                <a:latin typeface="Arial"/>
                <a:ea typeface="Calibri"/>
                <a:cs typeface="Arial"/>
              </a:rPr>
              <a:t>competenze</a:t>
            </a:r>
            <a:r>
              <a:rPr lang="en-US" sz="1400" i="1">
                <a:solidFill>
                  <a:srgbClr val="003063"/>
                </a:solidFill>
                <a:latin typeface="Arial"/>
                <a:ea typeface="Calibri"/>
                <a:cs typeface="Arial"/>
              </a:rPr>
              <a:t>, </a:t>
            </a:r>
            <a:r>
              <a:rPr lang="en-US" sz="1400" i="1" err="1">
                <a:solidFill>
                  <a:srgbClr val="003063"/>
                </a:solidFill>
                <a:latin typeface="Arial"/>
                <a:ea typeface="Calibri"/>
                <a:cs typeface="Arial"/>
              </a:rPr>
              <a:t>sicurezza</a:t>
            </a:r>
            <a:r>
              <a:rPr lang="en-US" sz="1400" i="1">
                <a:solidFill>
                  <a:srgbClr val="003063"/>
                </a:solidFill>
                <a:latin typeface="Arial"/>
                <a:ea typeface="Calibri"/>
                <a:cs typeface="Arial"/>
              </a:rPr>
              <a:t> e performance operative.</a:t>
            </a:r>
          </a:p>
          <a:p>
            <a:endParaRPr lang="en-US" sz="1800">
              <a:solidFill>
                <a:srgbClr val="003063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endParaRPr lang="en-US" sz="1400">
              <a:solidFill>
                <a:srgbClr val="003063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>
              <a:buFont typeface="Arial"/>
            </a:pPr>
            <a:endParaRPr lang="en-US" sz="1400">
              <a:solidFill>
                <a:srgbClr val="003063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>
              <a:buFont typeface="Arial"/>
            </a:pPr>
            <a:endParaRPr lang="en-US" sz="1400">
              <a:solidFill>
                <a:srgbClr val="003063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>
              <a:buFont typeface="Arial"/>
            </a:pPr>
            <a:endParaRPr lang="en-US" sz="1400">
              <a:solidFill>
                <a:srgbClr val="003063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>
              <a:buFont typeface="Arial"/>
            </a:pPr>
            <a:endParaRPr lang="en-US" sz="1400">
              <a:solidFill>
                <a:srgbClr val="003063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>
              <a:buFont typeface="Arial"/>
            </a:pPr>
            <a:endParaRPr lang="en-US" sz="1400">
              <a:solidFill>
                <a:srgbClr val="003063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>
              <a:buFont typeface="Arial"/>
            </a:pPr>
            <a:endParaRPr lang="en-US" sz="1400">
              <a:solidFill>
                <a:srgbClr val="003063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>
              <a:buFont typeface="Arial"/>
            </a:pPr>
            <a:endParaRPr lang="en-US" sz="1400">
              <a:solidFill>
                <a:srgbClr val="003063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>
              <a:buFont typeface="Arial"/>
            </a:pPr>
            <a:endParaRPr lang="en-US" sz="1400">
              <a:solidFill>
                <a:srgbClr val="003063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C9FA5-0B41-5ECB-63C9-82E1E93D4BF5}"/>
              </a:ext>
            </a:extLst>
          </p:cNvPr>
          <p:cNvSpPr txBox="1"/>
          <p:nvPr/>
        </p:nvSpPr>
        <p:spPr>
          <a:xfrm>
            <a:off x="1654628" y="5553830"/>
            <a:ext cx="230867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Calibri"/>
                <a:cs typeface="Calibri"/>
              </a:rPr>
              <a:t>Massimiliano Loffredo 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691573514"/>
      </p:ext>
    </p:extLst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CAD43-E5D0-2361-080E-0817F8564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1">
            <a:extLst>
              <a:ext uri="{FF2B5EF4-FFF2-40B4-BE49-F238E27FC236}">
                <a16:creationId xmlns:a16="http://schemas.microsoft.com/office/drawing/2014/main" id="{FCA8369C-B153-FDDF-4FFE-7172C9BF8169}"/>
              </a:ext>
            </a:extLst>
          </p:cNvPr>
          <p:cNvSpPr txBox="1"/>
          <p:nvPr/>
        </p:nvSpPr>
        <p:spPr>
          <a:xfrm>
            <a:off x="537120" y="352708"/>
            <a:ext cx="11748740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>
                <a:solidFill>
                  <a:srgbClr val="083C6E"/>
                </a:solidFill>
                <a:ea typeface="+mn-ea"/>
              </a:rPr>
              <a:t>Demo </a:t>
            </a:r>
            <a:r>
              <a:rPr lang="en-US" sz="2400" b="1" err="1">
                <a:solidFill>
                  <a:srgbClr val="083C6E"/>
                </a:solidFill>
                <a:ea typeface="+mn-ea"/>
              </a:rPr>
              <a:t>prodotto</a:t>
            </a:r>
            <a:r>
              <a:rPr lang="en-US" sz="2400" b="1">
                <a:solidFill>
                  <a:srgbClr val="083C6E"/>
                </a:solidFill>
                <a:ea typeface="+mn-ea"/>
              </a:rPr>
              <a:t> | Massi  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97FBF3-9467-E9A1-056C-2910E6A2D382}"/>
              </a:ext>
            </a:extLst>
          </p:cNvPr>
          <p:cNvSpPr txBox="1"/>
          <p:nvPr/>
        </p:nvSpPr>
        <p:spPr>
          <a:xfrm>
            <a:off x="9443961" y="1560285"/>
            <a:ext cx="264311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 3 </a:t>
            </a:r>
            <a:r>
              <a:rPr lang="en-US" err="1"/>
              <a:t>Modalità</a:t>
            </a:r>
            <a:r>
              <a:rPr lang="en-US"/>
              <a:t> di accesso/</a:t>
            </a:r>
            <a:r>
              <a:rPr lang="en-US" err="1"/>
              <a:t>usufruizione</a:t>
            </a:r>
            <a:r>
              <a:rPr lang="en-US"/>
              <a:t>:</a:t>
            </a:r>
          </a:p>
          <a:p>
            <a:pPr marL="342900" indent="-342900">
              <a:buAutoNum type="arabicPeriod"/>
            </a:pPr>
            <a:r>
              <a:rPr lang="en-US" err="1">
                <a:ea typeface="Calibri"/>
                <a:cs typeface="Calibri"/>
              </a:rPr>
              <a:t>Integrazione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piattaforma</a:t>
            </a:r>
            <a:r>
              <a:rPr lang="en-US">
                <a:ea typeface="Calibri"/>
                <a:cs typeface="Calibri"/>
              </a:rPr>
              <a:t> e-campus</a:t>
            </a:r>
          </a:p>
          <a:p>
            <a:pPr marL="342900" indent="-342900">
              <a:buAutoNum type="arabicPeriod"/>
            </a:pPr>
            <a:r>
              <a:rPr lang="en-US">
                <a:ea typeface="Calibri"/>
                <a:cs typeface="Calibri"/>
              </a:rPr>
              <a:t>Accesso con </a:t>
            </a:r>
            <a:r>
              <a:rPr lang="en-US" err="1">
                <a:ea typeface="Calibri"/>
                <a:cs typeface="Calibri"/>
              </a:rPr>
              <a:t>credenziali</a:t>
            </a:r>
            <a:r>
              <a:rPr lang="en-US">
                <a:ea typeface="Calibri"/>
                <a:cs typeface="Calibri"/>
              </a:rPr>
              <a:t> al </a:t>
            </a:r>
            <a:r>
              <a:rPr lang="en-US" err="1">
                <a:ea typeface="Calibri"/>
                <a:cs typeface="Calibri"/>
              </a:rPr>
              <a:t>sito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>
                <a:ea typeface="+mn-lt"/>
                <a:cs typeface="+mn-lt"/>
                <a:hlinkClick r:id="rId3"/>
              </a:rPr>
              <a:t>🎯 Campus Virtual Training - Versione Ottimizzata</a:t>
            </a:r>
          </a:p>
          <a:p>
            <a:pPr marL="342900" indent="-342900">
              <a:buAutoNum type="arabicPeriod"/>
            </a:pPr>
            <a:r>
              <a:rPr lang="en-US">
                <a:ea typeface="Calibri"/>
                <a:cs typeface="Calibri"/>
              </a:rPr>
              <a:t>In locale </a:t>
            </a:r>
            <a:r>
              <a:rPr lang="en-US" err="1">
                <a:ea typeface="Calibri"/>
                <a:cs typeface="Calibri"/>
              </a:rPr>
              <a:t>sulla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macchina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/>
            </a:r>
            <a:br>
              <a:rPr lang="en-US">
                <a:ea typeface="Calibri"/>
                <a:cs typeface="Calibri"/>
              </a:rPr>
            </a:br>
            <a:r>
              <a:rPr lang="en-US">
                <a:ea typeface="Calibri"/>
                <a:cs typeface="Calibri"/>
              </a:rPr>
              <a:t/>
            </a:r>
            <a:br>
              <a:rPr lang="en-US">
                <a:ea typeface="Calibri"/>
                <a:cs typeface="Calibri"/>
              </a:rPr>
            </a:br>
            <a:endParaRPr lang="en-US">
              <a:ea typeface="+mn-lt"/>
              <a:cs typeface="+mn-lt"/>
            </a:endParaRPr>
          </a:p>
        </p:txBody>
      </p:sp>
      <p:pic>
        <p:nvPicPr>
          <p:cNvPr id="3" name="Online Media 2" title="Campus Virtual Training">
            <a:hlinkClick r:id="" action="ppaction://noaction"/>
            <a:extLst>
              <a:ext uri="{FF2B5EF4-FFF2-40B4-BE49-F238E27FC236}">
                <a16:creationId xmlns:a16="http://schemas.microsoft.com/office/drawing/2014/main" id="{5029BDA2-DCB3-E2BD-3D1E-BC8F6F8A7EB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537482" y="976084"/>
            <a:ext cx="8701995" cy="491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19715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1">
            <a:extLst>
              <a:ext uri="{FF2B5EF4-FFF2-40B4-BE49-F238E27FC236}">
                <a16:creationId xmlns:a16="http://schemas.microsoft.com/office/drawing/2014/main" id="{4A157BCA-665C-1693-EF01-A57E4C74D654}"/>
              </a:ext>
            </a:extLst>
          </p:cNvPr>
          <p:cNvSpPr txBox="1"/>
          <p:nvPr/>
        </p:nvSpPr>
        <p:spPr>
          <a:xfrm>
            <a:off x="675006" y="345451"/>
            <a:ext cx="11748740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>
                <a:solidFill>
                  <a:srgbClr val="083C6E"/>
                </a:solidFill>
                <a:ea typeface="+mn-ea"/>
              </a:rPr>
              <a:t>Vision del </a:t>
            </a:r>
            <a:r>
              <a:rPr lang="en-US" sz="2400" b="1" err="1">
                <a:solidFill>
                  <a:srgbClr val="083C6E"/>
                </a:solidFill>
                <a:ea typeface="+mn-ea"/>
              </a:rPr>
              <a:t>progetto</a:t>
            </a:r>
            <a:r>
              <a:rPr lang="en-US" sz="2400" b="1">
                <a:solidFill>
                  <a:srgbClr val="083C6E"/>
                </a:solidFill>
                <a:ea typeface="+mn-ea"/>
              </a:rPr>
              <a:t>  </a:t>
            </a:r>
            <a:endParaRPr lang="en-US" sz="2400" b="1">
              <a:solidFill>
                <a:srgbClr val="083C6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8C6F56-6568-BA10-16B2-B914FA0301B6}"/>
              </a:ext>
            </a:extLst>
          </p:cNvPr>
          <p:cNvSpPr txBox="1"/>
          <p:nvPr/>
        </p:nvSpPr>
        <p:spPr>
          <a:xfrm>
            <a:off x="677332" y="921657"/>
            <a:ext cx="11286368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ea typeface="Calibri"/>
                <a:cs typeface="Calibri"/>
              </a:rPr>
              <a:t>Fare di Campus Virtual Training una interfaccia formativa universale di ogni macchina SCM — un ecosistema digitale dove il cliente accede in 30 secondi al tutorial giusto per la propria macchina, lo completa, può venire tracciato, e può persino creare o adattare contenuti in autonomia. </a:t>
            </a:r>
            <a:endParaRPr lang="en-US">
              <a:ea typeface="Calibri"/>
              <a:cs typeface="Calibri"/>
            </a:endParaRPr>
          </a:p>
          <a:p>
            <a:endParaRPr lang="it-IT">
              <a:ea typeface="Calibri"/>
              <a:cs typeface="Calibri"/>
            </a:endParaRPr>
          </a:p>
          <a:p>
            <a:r>
              <a:rPr lang="it-IT">
                <a:ea typeface="Calibri"/>
                <a:cs typeface="Calibri"/>
              </a:rPr>
              <a:t>La formazione smette di essere un costo e diventa un vantaggio competitivo vendibile, può essere integrata con supporto  CRM e progettazione macchina, con un percorso a tappe </a:t>
            </a:r>
          </a:p>
          <a:p>
            <a:r>
              <a:rPr lang="it-IT">
                <a:ea typeface="Calibri"/>
                <a:cs typeface="Calibri"/>
              </a:rPr>
              <a:t>Fase 1: consolidamento solo interno </a:t>
            </a:r>
            <a:endParaRPr lang="en-US">
              <a:ea typeface="Calibri"/>
              <a:cs typeface="Calibri"/>
            </a:endParaRPr>
          </a:p>
          <a:p>
            <a:r>
              <a:rPr lang="it-IT">
                <a:ea typeface="Calibri"/>
                <a:cs typeface="Calibri"/>
              </a:rPr>
              <a:t>Fase 2: utilizzo in LMS e Knowledge Assistant  </a:t>
            </a:r>
            <a:endParaRPr lang="en-US">
              <a:ea typeface="Calibri"/>
              <a:cs typeface="Calibri"/>
            </a:endParaRPr>
          </a:p>
          <a:p>
            <a:r>
              <a:rPr lang="it-IT">
                <a:ea typeface="Calibri"/>
                <a:cs typeface="Calibri"/>
              </a:rPr>
              <a:t>Fase 3: prodotto commerciale.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25617900"/>
      </p:ext>
    </p:extLst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1">
            <a:extLst>
              <a:ext uri="{FF2B5EF4-FFF2-40B4-BE49-F238E27FC236}">
                <a16:creationId xmlns:a16="http://schemas.microsoft.com/office/drawing/2014/main" id="{4A157BCA-665C-1693-EF01-A57E4C74D654}"/>
              </a:ext>
            </a:extLst>
          </p:cNvPr>
          <p:cNvSpPr txBox="1"/>
          <p:nvPr/>
        </p:nvSpPr>
        <p:spPr>
          <a:xfrm>
            <a:off x="675006" y="134994"/>
            <a:ext cx="11748740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>
                <a:solidFill>
                  <a:srgbClr val="083C6E"/>
                </a:solidFill>
                <a:ea typeface="+mn-ea"/>
              </a:rPr>
              <a:t>Executive Summary | Vale</a:t>
            </a:r>
            <a:endParaRPr lang="en-US" sz="2400" b="1">
              <a:solidFill>
                <a:srgbClr val="083C6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8C6F56-6568-BA10-16B2-B914FA0301B6}"/>
              </a:ext>
            </a:extLst>
          </p:cNvPr>
          <p:cNvSpPr txBox="1"/>
          <p:nvPr/>
        </p:nvSpPr>
        <p:spPr>
          <a:xfrm>
            <a:off x="677332" y="595085"/>
            <a:ext cx="11525854" cy="78483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/>
              <a:t>Obiettivo</a:t>
            </a:r>
            <a:r>
              <a:rPr lang="en-US" b="1"/>
              <a:t> e benefici/vantaggi attesi.</a:t>
            </a:r>
          </a:p>
          <a:p>
            <a:r>
              <a:rPr lang="it-IT">
                <a:ea typeface="Calibri"/>
                <a:cs typeface="Calibri"/>
              </a:rPr>
              <a:t>Trasformare Campus Virtual Training in un modulo formativo digitale integrato e commercializzabile, da proporre come valore aggiunto sulle macchine.</a:t>
            </a:r>
          </a:p>
          <a:p>
            <a:endParaRPr lang="it-IT">
              <a:ea typeface="Calibri"/>
              <a:cs typeface="Calibri"/>
            </a:endParaRPr>
          </a:p>
          <a:p>
            <a:r>
              <a:rPr lang="it-IT">
                <a:ea typeface="Calibri"/>
                <a:cs typeface="Calibri"/>
              </a:rPr>
              <a:t>Benefici/Vantaggi attesi:</a:t>
            </a:r>
          </a:p>
          <a:p>
            <a:r>
              <a:rPr lang="it-IT">
                <a:ea typeface="Calibri"/>
                <a:cs typeface="Calibri"/>
              </a:rPr>
              <a:t>1.Riduzione ticket supporto, il supporto umano resta solo per i casi complessi	.</a:t>
            </a:r>
          </a:p>
          <a:p>
            <a:r>
              <a:rPr lang="it-IT">
                <a:ea typeface="Calibri"/>
                <a:cs typeface="Calibri"/>
              </a:rPr>
              <a:t>2.Disponibilità 24/7, Il cliente accede al tutorial sul momento, senza aspettare il corso annuale o il formatore. </a:t>
            </a:r>
            <a:r>
              <a:rPr lang="en-US">
                <a:ea typeface="Calibri"/>
                <a:cs typeface="Calibri"/>
              </a:rPr>
              <a:t>Es. ROI del </a:t>
            </a:r>
            <a:r>
              <a:rPr lang="en-US" err="1">
                <a:ea typeface="Calibri"/>
                <a:cs typeface="Calibri"/>
              </a:rPr>
              <a:t>progetto</a:t>
            </a:r>
            <a:r>
              <a:rPr lang="en-US">
                <a:ea typeface="Calibri"/>
                <a:cs typeface="Calibri"/>
              </a:rPr>
              <a:t>, tempo medio di </a:t>
            </a:r>
            <a:r>
              <a:rPr lang="en-US" err="1">
                <a:ea typeface="Calibri"/>
                <a:cs typeface="Calibri"/>
              </a:rPr>
              <a:t>apprendimento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ecc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Ore </a:t>
            </a:r>
            <a:r>
              <a:rPr lang="en-US" err="1">
                <a:ea typeface="Calibri"/>
                <a:cs typeface="Calibri"/>
              </a:rPr>
              <a:t>improduttive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clienti</a:t>
            </a:r>
            <a:r>
              <a:rPr lang="en-US">
                <a:ea typeface="Calibri"/>
                <a:cs typeface="Calibri"/>
              </a:rPr>
              <a:t> (</a:t>
            </a:r>
            <a:r>
              <a:rPr lang="en-US" err="1">
                <a:ea typeface="Calibri"/>
                <a:cs typeface="Calibri"/>
              </a:rPr>
              <a:t>che</a:t>
            </a:r>
            <a:r>
              <a:rPr lang="en-US">
                <a:ea typeface="Calibri"/>
                <a:cs typeface="Calibri"/>
              </a:rPr>
              <a:t> non </a:t>
            </a:r>
            <a:r>
              <a:rPr lang="en-US" err="1">
                <a:ea typeface="Calibri"/>
                <a:cs typeface="Calibri"/>
              </a:rPr>
              <a:t>deve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interrompere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produzione</a:t>
            </a:r>
            <a:r>
              <a:rPr lang="en-US">
                <a:ea typeface="Calibri"/>
                <a:cs typeface="Calibri"/>
              </a:rPr>
              <a:t>)</a:t>
            </a:r>
          </a:p>
          <a:p>
            <a:r>
              <a:rPr lang="en-US">
                <a:ea typeface="Calibri"/>
                <a:cs typeface="Calibri"/>
              </a:rPr>
              <a:t>Analisi ticket </a:t>
            </a:r>
            <a:r>
              <a:rPr lang="en-US" err="1">
                <a:ea typeface="Calibri"/>
                <a:cs typeface="Calibri"/>
              </a:rPr>
              <a:t>aperti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su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temi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coperti</a:t>
            </a:r>
            <a:r>
              <a:rPr lang="en-US">
                <a:ea typeface="Calibri"/>
                <a:cs typeface="Calibri"/>
              </a:rPr>
              <a:t> dal virtual training</a:t>
            </a:r>
          </a:p>
          <a:p>
            <a:r>
              <a:rPr lang="en-US">
                <a:ea typeface="Calibri"/>
                <a:cs typeface="Calibri"/>
              </a:rPr>
              <a:t>Diminuzione Ticket </a:t>
            </a:r>
            <a:r>
              <a:rPr lang="en-US" err="1">
                <a:ea typeface="Calibri"/>
                <a:cs typeface="Calibri"/>
              </a:rPr>
              <a:t>aperti</a:t>
            </a:r>
            <a:r>
              <a:rPr lang="en-US">
                <a:ea typeface="Calibri"/>
                <a:cs typeface="Calibri"/>
              </a:rPr>
              <a:t> per deficit </a:t>
            </a:r>
            <a:r>
              <a:rPr lang="en-US" err="1">
                <a:ea typeface="Calibri"/>
                <a:cs typeface="Calibri"/>
              </a:rPr>
              <a:t>formativo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 err="1">
                <a:ea typeface="Calibri"/>
                <a:cs typeface="Calibri"/>
              </a:rPr>
              <a:t>Abbattimento</a:t>
            </a:r>
            <a:r>
              <a:rPr lang="en-US">
                <a:ea typeface="Calibri"/>
                <a:cs typeface="Calibri"/>
              </a:rPr>
              <a:t> tempi "</a:t>
            </a:r>
            <a:r>
              <a:rPr lang="en-US" err="1">
                <a:ea typeface="Calibri"/>
                <a:cs typeface="Calibri"/>
              </a:rPr>
              <a:t>fisici</a:t>
            </a:r>
            <a:r>
              <a:rPr lang="en-US">
                <a:ea typeface="Calibri"/>
                <a:cs typeface="Calibri"/>
              </a:rPr>
              <a:t>"</a:t>
            </a:r>
          </a:p>
          <a:p>
            <a:r>
              <a:rPr lang="en-US" err="1">
                <a:ea typeface="Calibri"/>
                <a:cs typeface="Calibri"/>
              </a:rPr>
              <a:t>Sicurezza</a:t>
            </a:r>
            <a:r>
              <a:rPr lang="en-US">
                <a:ea typeface="Calibri"/>
                <a:cs typeface="Calibri"/>
              </a:rPr>
              <a:t> per </a:t>
            </a:r>
            <a:r>
              <a:rPr lang="en-US" err="1">
                <a:ea typeface="Calibri"/>
                <a:cs typeface="Calibri"/>
              </a:rPr>
              <a:t>operatore</a:t>
            </a:r>
            <a:r>
              <a:rPr lang="en-US">
                <a:ea typeface="Calibri"/>
                <a:cs typeface="Calibri"/>
              </a:rPr>
              <a:t> e per </a:t>
            </a:r>
            <a:r>
              <a:rPr lang="en-US" err="1">
                <a:ea typeface="Calibri"/>
                <a:cs typeface="Calibri"/>
              </a:rPr>
              <a:t>macchina</a:t>
            </a:r>
            <a:endParaRPr lang="en-US">
              <a:ea typeface="Calibri"/>
              <a:cs typeface="Calibri"/>
            </a:endParaRPr>
          </a:p>
          <a:p>
            <a:r>
              <a:rPr lang="en-US" err="1">
                <a:ea typeface="Calibri"/>
                <a:cs typeface="Calibri"/>
              </a:rPr>
              <a:t>Controllo</a:t>
            </a:r>
            <a:r>
              <a:rPr lang="en-US">
                <a:ea typeface="Calibri"/>
                <a:cs typeface="Calibri"/>
              </a:rPr>
              <a:t> sui </a:t>
            </a:r>
            <a:r>
              <a:rPr lang="en-US" err="1">
                <a:ea typeface="Calibri"/>
                <a:cs typeface="Calibri"/>
              </a:rPr>
              <a:t>contenuti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interno</a:t>
            </a:r>
            <a:r>
              <a:rPr lang="en-US">
                <a:ea typeface="Calibri"/>
                <a:cs typeface="Calibri"/>
              </a:rPr>
              <a:t> vs OUTSOURCE (Applied)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Chi ha accesso ai tutorial fa </a:t>
            </a:r>
            <a:r>
              <a:rPr lang="en-US" err="1">
                <a:ea typeface="Calibri"/>
                <a:cs typeface="Calibri"/>
              </a:rPr>
              <a:t>meno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errori</a:t>
            </a:r>
            <a:r>
              <a:rPr lang="en-US">
                <a:ea typeface="Calibri"/>
                <a:cs typeface="Calibri"/>
              </a:rPr>
              <a:t>, ha </a:t>
            </a:r>
            <a:r>
              <a:rPr lang="en-US" err="1">
                <a:ea typeface="Calibri"/>
                <a:cs typeface="Calibri"/>
              </a:rPr>
              <a:t>meno</a:t>
            </a:r>
            <a:r>
              <a:rPr lang="en-US">
                <a:ea typeface="Calibri"/>
                <a:cs typeface="Calibri"/>
              </a:rPr>
              <a:t> downtime, </a:t>
            </a:r>
            <a:r>
              <a:rPr lang="en-US" err="1">
                <a:ea typeface="Calibri"/>
                <a:cs typeface="Calibri"/>
              </a:rPr>
              <a:t>chiama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meno</a:t>
            </a:r>
            <a:r>
              <a:rPr lang="en-US">
                <a:ea typeface="Calibri"/>
                <a:cs typeface="Calibri"/>
              </a:rPr>
              <a:t> il service. </a:t>
            </a:r>
          </a:p>
          <a:p>
            <a:r>
              <a:rPr lang="en-US">
                <a:ea typeface="Calibri"/>
                <a:cs typeface="Calibri"/>
              </a:rPr>
              <a:t>È un </a:t>
            </a:r>
            <a:r>
              <a:rPr lang="en-US" err="1">
                <a:ea typeface="Calibri"/>
                <a:cs typeface="Calibri"/>
              </a:rPr>
              <a:t>argomento</a:t>
            </a:r>
            <a:r>
              <a:rPr lang="en-US">
                <a:ea typeface="Calibri"/>
                <a:cs typeface="Calibri"/>
              </a:rPr>
              <a:t> forte </a:t>
            </a:r>
            <a:r>
              <a:rPr lang="en-US" err="1">
                <a:ea typeface="Calibri"/>
                <a:cs typeface="Calibri"/>
              </a:rPr>
              <a:t>anche</a:t>
            </a:r>
            <a:r>
              <a:rPr lang="en-US">
                <a:ea typeface="Calibri"/>
                <a:cs typeface="Calibri"/>
              </a:rPr>
              <a:t> per il team </a:t>
            </a:r>
            <a:r>
              <a:rPr lang="en-US" err="1">
                <a:ea typeface="Calibri"/>
                <a:cs typeface="Calibri"/>
              </a:rPr>
              <a:t>commerciale</a:t>
            </a:r>
            <a:r>
              <a:rPr lang="en-US">
                <a:ea typeface="Calibri"/>
                <a:cs typeface="Calibri"/>
              </a:rPr>
              <a:t> SCM.</a:t>
            </a:r>
            <a:endParaRPr lang="en-US"/>
          </a:p>
          <a:p>
            <a:endParaRPr lang="it-IT">
              <a:ea typeface="Calibri"/>
              <a:cs typeface="Calibri"/>
            </a:endParaRPr>
          </a:p>
          <a:p>
            <a:r>
              <a:rPr lang="en-US" b="1">
                <a:ea typeface="Calibri"/>
                <a:cs typeface="Calibri"/>
              </a:rPr>
              <a:t>Target: </a:t>
            </a:r>
            <a:endParaRPr lang="en-US">
              <a:ea typeface="Calibri"/>
              <a:cs typeface="Calibri"/>
            </a:endParaRPr>
          </a:p>
          <a:p>
            <a:r>
              <a:rPr lang="it-IT">
                <a:ea typeface="Calibri"/>
                <a:cs typeface="Calibri"/>
              </a:rPr>
              <a:t>Clienti piccola-media-taglia. </a:t>
            </a:r>
          </a:p>
          <a:p>
            <a:endParaRPr lang="it-IT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Target </a:t>
            </a:r>
            <a:r>
              <a:rPr lang="en-US" err="1">
                <a:ea typeface="Calibri"/>
                <a:cs typeface="Calibri"/>
              </a:rPr>
              <a:t>interno</a:t>
            </a:r>
            <a:r>
              <a:rPr lang="en-US">
                <a:ea typeface="Calibri"/>
                <a:cs typeface="Calibri"/>
              </a:rPr>
              <a:t>  FSE junior (</a:t>
            </a:r>
            <a:r>
              <a:rPr lang="it-IT">
                <a:ea typeface="Calibri"/>
                <a:cs typeface="Calibri"/>
              </a:rPr>
              <a:t>lo sviluppo dei tutorial è gestibile direttamente da filiale,</a:t>
            </a:r>
            <a:endParaRPr lang="en-US">
              <a:ea typeface="Calibri"/>
              <a:cs typeface="Calibri"/>
            </a:endParaRPr>
          </a:p>
          <a:p>
            <a:r>
              <a:rPr lang="it-IT">
                <a:ea typeface="Calibri"/>
                <a:cs typeface="Calibri"/>
              </a:rPr>
              <a:t>autonomamente da parte del tecnico che sovrintende quella tecnologia.)</a:t>
            </a:r>
            <a:endParaRPr lang="en-US"/>
          </a:p>
          <a:p>
            <a:endParaRPr lang="en-US">
              <a:ea typeface="Calibri"/>
              <a:cs typeface="Calibri"/>
            </a:endParaRPr>
          </a:p>
          <a:p>
            <a:r>
              <a:rPr lang="it-IT">
                <a:ea typeface="Calibri"/>
                <a:cs typeface="Calibri"/>
              </a:rPr>
              <a:t>Enti professionali/Scuole</a:t>
            </a: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8630658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1">
            <a:extLst>
              <a:ext uri="{FF2B5EF4-FFF2-40B4-BE49-F238E27FC236}">
                <a16:creationId xmlns:a16="http://schemas.microsoft.com/office/drawing/2014/main" id="{4A157BCA-665C-1693-EF01-A57E4C74D654}"/>
              </a:ext>
            </a:extLst>
          </p:cNvPr>
          <p:cNvSpPr txBox="1"/>
          <p:nvPr/>
        </p:nvSpPr>
        <p:spPr>
          <a:xfrm>
            <a:off x="675006" y="345451"/>
            <a:ext cx="11748740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>
                <a:solidFill>
                  <a:srgbClr val="083C6E"/>
                </a:solidFill>
                <a:ea typeface="+mn-ea"/>
              </a:rPr>
              <a:t>Executive Summary | Vale </a:t>
            </a:r>
            <a:endParaRPr lang="en-US" sz="2400" b="1">
              <a:solidFill>
                <a:srgbClr val="083C6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8C6F56-6568-BA10-16B2-B914FA0301B6}"/>
              </a:ext>
            </a:extLst>
          </p:cNvPr>
          <p:cNvSpPr txBox="1"/>
          <p:nvPr/>
        </p:nvSpPr>
        <p:spPr>
          <a:xfrm>
            <a:off x="677332" y="1553028"/>
            <a:ext cx="983494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>
                <a:ea typeface="Calibri"/>
                <a:cs typeface="Calibri"/>
              </a:rPr>
              <a:t>Contesto</a:t>
            </a:r>
            <a:r>
              <a:rPr lang="en-US" b="1">
                <a:ea typeface="Calibri"/>
                <a:cs typeface="Calibri"/>
              </a:rPr>
              <a:t> e </a:t>
            </a:r>
            <a:r>
              <a:rPr lang="en-US" b="1" err="1">
                <a:ea typeface="Calibri"/>
                <a:cs typeface="Calibri"/>
              </a:rPr>
              <a:t>bisogno</a:t>
            </a:r>
            <a:r>
              <a:rPr lang="en-US" b="1">
                <a:ea typeface="Calibri"/>
                <a:cs typeface="Calibri"/>
              </a:rPr>
              <a:t> </a:t>
            </a:r>
            <a:r>
              <a:rPr lang="en-US">
                <a:ea typeface="Calibri"/>
                <a:cs typeface="Calibri"/>
              </a:rPr>
              <a:t>(</a:t>
            </a:r>
            <a:r>
              <a:rPr lang="en-US" err="1">
                <a:ea typeface="Calibri"/>
                <a:cs typeface="Calibri"/>
              </a:rPr>
              <a:t>situazione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attuale</a:t>
            </a:r>
            <a:r>
              <a:rPr lang="en-US">
                <a:ea typeface="Calibri"/>
                <a:cs typeface="Calibri"/>
              </a:rPr>
              <a:t> vs </a:t>
            </a:r>
            <a:r>
              <a:rPr lang="en-US" err="1">
                <a:ea typeface="Calibri"/>
                <a:cs typeface="Calibri"/>
              </a:rPr>
              <a:t>opportunità</a:t>
            </a:r>
            <a:r>
              <a:rPr lang="en-US">
                <a:ea typeface="Calibri"/>
                <a:cs typeface="Calibri"/>
              </a:rPr>
              <a:t>):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 err="1">
                <a:ea typeface="Calibri"/>
                <a:cs typeface="Calibri"/>
              </a:rPr>
              <a:t>Vantaggi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dello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sviluppo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interno</a:t>
            </a:r>
            <a:r>
              <a:rPr lang="en-US">
                <a:ea typeface="Calibri"/>
                <a:cs typeface="Calibri"/>
              </a:rPr>
              <a:t> vs </a:t>
            </a:r>
            <a:r>
              <a:rPr lang="en-US" err="1">
                <a:ea typeface="Calibri"/>
                <a:cs typeface="Calibri"/>
              </a:rPr>
              <a:t>sviluppo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esterno</a:t>
            </a:r>
            <a:r>
              <a:rPr lang="en-US">
                <a:ea typeface="Calibri"/>
                <a:cs typeface="Calibri"/>
              </a:rPr>
              <a:t> (</a:t>
            </a:r>
            <a:r>
              <a:rPr lang="en-US" err="1">
                <a:ea typeface="Calibri"/>
                <a:cs typeface="Calibri"/>
              </a:rPr>
              <a:t>esperienza</a:t>
            </a:r>
            <a:r>
              <a:rPr lang="en-US">
                <a:ea typeface="Calibri"/>
                <a:cs typeface="Calibri"/>
              </a:rPr>
              <a:t> applied)</a:t>
            </a:r>
          </a:p>
          <a:p>
            <a:pPr marL="342900" indent="-342900">
              <a:buAutoNum type="arabicPeriod"/>
            </a:pPr>
            <a:endParaRPr lang="en-US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it-IT">
                <a:ea typeface="Calibri"/>
                <a:cs typeface="Calibri"/>
              </a:rPr>
              <a:t>Si tagliano i costi per le dipendenze da </a:t>
            </a:r>
            <a:r>
              <a:rPr lang="it-IT" err="1">
                <a:ea typeface="Calibri"/>
                <a:cs typeface="Calibri"/>
              </a:rPr>
              <a:t>softwerhouses</a:t>
            </a:r>
            <a:r>
              <a:rPr lang="it-IT">
                <a:ea typeface="Calibri"/>
                <a:cs typeface="Calibri"/>
              </a:rPr>
              <a:t> esterne.</a:t>
            </a:r>
          </a:p>
          <a:p>
            <a:pPr marL="342900" indent="-342900">
              <a:buAutoNum type="arabicPeriod"/>
            </a:pPr>
            <a:r>
              <a:rPr lang="it-IT">
                <a:ea typeface="Calibri"/>
                <a:cs typeface="Calibri"/>
              </a:rPr>
              <a:t>Procedure tecniche conosciute </a:t>
            </a:r>
          </a:p>
          <a:p>
            <a:pPr marL="342900" indent="-342900">
              <a:buAutoNum type="arabicPeriod"/>
            </a:pPr>
            <a:r>
              <a:rPr lang="it-IT">
                <a:ea typeface="Calibri"/>
                <a:cs typeface="Calibri"/>
              </a:rPr>
              <a:t>Sintassi dichiarativa e ridotta (</a:t>
            </a:r>
            <a:r>
              <a:rPr lang="it-IT" err="1">
                <a:ea typeface="Calibri"/>
                <a:cs typeface="Calibri"/>
              </a:rPr>
              <a:t>CVTScript</a:t>
            </a:r>
            <a:r>
              <a:rPr lang="it-IT">
                <a:ea typeface="Calibri"/>
                <a:cs typeface="Calibri"/>
              </a:rPr>
              <a:t> v3 ): poche keyword (</a:t>
            </a:r>
            <a:r>
              <a:rPr lang="it-IT" err="1">
                <a:ea typeface="Calibri"/>
                <a:cs typeface="Calibri"/>
              </a:rPr>
              <a:t>element</a:t>
            </a:r>
            <a:r>
              <a:rPr lang="it-IT">
                <a:ea typeface="Calibri"/>
                <a:cs typeface="Calibri"/>
              </a:rPr>
              <a:t>, tool, do :, after :) . </a:t>
            </a:r>
            <a:endParaRPr lang="en-US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it-IT">
                <a:ea typeface="Calibri"/>
                <a:cs typeface="Calibri"/>
              </a:rPr>
              <a:t>Il manuale è scritto "per principianti" : stessa keyword </a:t>
            </a:r>
            <a:r>
              <a:rPr lang="it-IT" err="1">
                <a:ea typeface="Calibri"/>
                <a:cs typeface="Calibri"/>
              </a:rPr>
              <a:t>element</a:t>
            </a:r>
            <a:r>
              <a:rPr lang="it-IT">
                <a:ea typeface="Calibri"/>
                <a:cs typeface="Calibri"/>
              </a:rPr>
              <a:t> = funziona per viti, pulsanti, porte, leve </a:t>
            </a:r>
          </a:p>
          <a:p>
            <a:pPr marL="342900" indent="-342900">
              <a:buAutoNum type="arabicPeriod"/>
            </a:pPr>
            <a:r>
              <a:rPr lang="it-IT">
                <a:ea typeface="Calibri"/>
                <a:cs typeface="Calibri"/>
              </a:rPr>
              <a:t>Controllo sul codice per sviluppare nuove funzionalità/prestazioni </a:t>
            </a: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6854204"/>
      </p:ext>
    </p:extLst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96BD7-C9AC-EF61-4125-325473360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1">
            <a:extLst>
              <a:ext uri="{FF2B5EF4-FFF2-40B4-BE49-F238E27FC236}">
                <a16:creationId xmlns:a16="http://schemas.microsoft.com/office/drawing/2014/main" id="{187272FA-D948-9E3C-2F2C-723BF8C9A91F}"/>
              </a:ext>
            </a:extLst>
          </p:cNvPr>
          <p:cNvSpPr txBox="1"/>
          <p:nvPr/>
        </p:nvSpPr>
        <p:spPr>
          <a:xfrm>
            <a:off x="675006" y="352708"/>
            <a:ext cx="11748740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>
                <a:solidFill>
                  <a:srgbClr val="083C6E"/>
                </a:solidFill>
                <a:ea typeface="+mn-ea"/>
              </a:rPr>
              <a:t>Come è </a:t>
            </a:r>
            <a:r>
              <a:rPr lang="en-US" sz="2400" b="1" err="1">
                <a:solidFill>
                  <a:srgbClr val="083C6E"/>
                </a:solidFill>
                <a:ea typeface="+mn-ea"/>
              </a:rPr>
              <a:t>stato</a:t>
            </a:r>
            <a:r>
              <a:rPr lang="en-US" sz="2400" b="1">
                <a:solidFill>
                  <a:srgbClr val="083C6E"/>
                </a:solidFill>
                <a:ea typeface="+mn-ea"/>
              </a:rPr>
              <a:t> </a:t>
            </a:r>
            <a:r>
              <a:rPr lang="en-US" sz="2400" b="1" err="1">
                <a:solidFill>
                  <a:srgbClr val="083C6E"/>
                </a:solidFill>
                <a:ea typeface="+mn-ea"/>
              </a:rPr>
              <a:t>sviluppato</a:t>
            </a:r>
            <a:r>
              <a:rPr lang="en-US" sz="2400" b="1">
                <a:solidFill>
                  <a:srgbClr val="083C6E"/>
                </a:solidFill>
                <a:ea typeface="+mn-ea"/>
              </a:rPr>
              <a:t> | Massi  </a:t>
            </a:r>
            <a:endParaRPr lang="en-US" sz="2400" b="1">
              <a:solidFill>
                <a:srgbClr val="083C6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F37559-E380-980C-2A35-78722383F98E}"/>
              </a:ext>
            </a:extLst>
          </p:cNvPr>
          <p:cNvSpPr txBox="1"/>
          <p:nvPr/>
        </p:nvSpPr>
        <p:spPr>
          <a:xfrm>
            <a:off x="677332" y="849087"/>
            <a:ext cx="11533111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	</a:t>
            </a:r>
          </a:p>
          <a:p>
            <a:r>
              <a:rPr lang="en-US"/>
              <a:t>(Three.js + script </a:t>
            </a:r>
            <a:r>
              <a:rPr lang="en-US" err="1"/>
              <a:t>proprietario</a:t>
            </a:r>
            <a:r>
              <a:rPr lang="en-US"/>
              <a:t> </a:t>
            </a:r>
            <a:r>
              <a:rPr lang="en-US" err="1"/>
              <a:t>CVTScript</a:t>
            </a:r>
            <a:r>
              <a:rPr lang="en-US"/>
              <a:t> v3)</a:t>
            </a:r>
            <a:endParaRPr lang="en-US" b="1">
              <a:ea typeface="Calibri"/>
              <a:cs typeface="Calibri"/>
            </a:endParaRPr>
          </a:p>
          <a:p>
            <a:endParaRPr lang="en-US"/>
          </a:p>
          <a:p>
            <a:r>
              <a:rPr lang="en-US"/>
              <a:t>La </a:t>
            </a:r>
            <a:r>
              <a:rPr lang="en-US" err="1"/>
              <a:t>tecnologia</a:t>
            </a:r>
            <a:r>
              <a:rPr lang="en-US"/>
              <a:t> è </a:t>
            </a:r>
            <a:r>
              <a:rPr lang="en-US" b="1"/>
              <a:t>web based.</a:t>
            </a:r>
            <a:endParaRPr lang="en-US"/>
          </a:p>
          <a:p>
            <a:r>
              <a:rPr lang="en-US">
                <a:ea typeface="Calibri"/>
                <a:cs typeface="Calibri"/>
              </a:rPr>
              <a:t>I </a:t>
            </a:r>
            <a:r>
              <a:rPr lang="en-US" err="1">
                <a:ea typeface="Calibri"/>
                <a:cs typeface="Calibri"/>
              </a:rPr>
              <a:t>modelli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sono</a:t>
            </a:r>
            <a:r>
              <a:rPr lang="en-US">
                <a:ea typeface="Calibri"/>
                <a:cs typeface="Calibri"/>
              </a:rPr>
              <a:t> .</a:t>
            </a:r>
            <a:r>
              <a:rPr lang="en-US" err="1">
                <a:ea typeface="Calibri"/>
                <a:cs typeface="Calibri"/>
              </a:rPr>
              <a:t>glb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compressi</a:t>
            </a:r>
            <a:r>
              <a:rPr lang="en-US">
                <a:ea typeface="Calibri"/>
                <a:cs typeface="Calibri"/>
              </a:rPr>
              <a:t> con </a:t>
            </a:r>
            <a:r>
              <a:rPr lang="en-US" err="1">
                <a:ea typeface="Calibri"/>
                <a:cs typeface="Calibri"/>
              </a:rPr>
              <a:t>algoritmo</a:t>
            </a:r>
            <a:r>
              <a:rPr lang="en-US">
                <a:ea typeface="Calibri"/>
                <a:cs typeface="Calibri"/>
              </a:rPr>
              <a:t> Draco. Dalle prove </a:t>
            </a:r>
            <a:r>
              <a:rPr lang="en-US" err="1">
                <a:ea typeface="Calibri"/>
                <a:cs typeface="Calibri"/>
              </a:rPr>
              <a:t>fatte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su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installazione</a:t>
            </a:r>
            <a:r>
              <a:rPr lang="en-US">
                <a:ea typeface="Calibri"/>
                <a:cs typeface="Calibri"/>
              </a:rPr>
              <a:t> in </a:t>
            </a:r>
            <a:r>
              <a:rPr lang="en-US" err="1">
                <a:ea typeface="Calibri"/>
                <a:cs typeface="Calibri"/>
              </a:rPr>
              <a:t>Github</a:t>
            </a:r>
            <a:r>
              <a:rPr lang="en-US">
                <a:ea typeface="Calibri"/>
                <a:cs typeface="Calibri"/>
              </a:rPr>
              <a:t> Pages è </a:t>
            </a:r>
            <a:r>
              <a:rPr lang="en-US" err="1">
                <a:ea typeface="Calibri"/>
                <a:cs typeface="Calibri"/>
              </a:rPr>
              <a:t>perfettamente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fruibile</a:t>
            </a:r>
            <a:r>
              <a:rPr lang="en-US">
                <a:ea typeface="Calibri"/>
                <a:cs typeface="Calibri"/>
              </a:rPr>
              <a:t>.</a:t>
            </a:r>
            <a:endParaRPr lang="en-US"/>
          </a:p>
          <a:p>
            <a:endParaRPr lang="en-US"/>
          </a:p>
          <a:p>
            <a:r>
              <a:rPr lang="en-US" err="1"/>
              <a:t>Quindi</a:t>
            </a:r>
            <a:r>
              <a:rPr lang="en-US"/>
              <a:t> è </a:t>
            </a:r>
            <a:r>
              <a:rPr lang="en-US" err="1"/>
              <a:t>centralizzabile</a:t>
            </a:r>
            <a:r>
              <a:rPr lang="en-US"/>
              <a:t>, </a:t>
            </a:r>
            <a:r>
              <a:rPr lang="en-US" err="1"/>
              <a:t>all'occorrenza</a:t>
            </a:r>
            <a:r>
              <a:rPr lang="en-US"/>
              <a:t>, </a:t>
            </a:r>
            <a:r>
              <a:rPr lang="en-US" err="1"/>
              <a:t>su</a:t>
            </a:r>
            <a:r>
              <a:rPr lang="en-US"/>
              <a:t> un </a:t>
            </a:r>
            <a:r>
              <a:rPr lang="en-US" err="1"/>
              <a:t>servizio</a:t>
            </a:r>
            <a:r>
              <a:rPr lang="en-US"/>
              <a:t> hosting </a:t>
            </a:r>
            <a:r>
              <a:rPr lang="en-US" err="1"/>
              <a:t>esterno</a:t>
            </a:r>
            <a:r>
              <a:rPr lang="en-US"/>
              <a:t> con </a:t>
            </a:r>
            <a:r>
              <a:rPr lang="en-US" err="1"/>
              <a:t>controllo</a:t>
            </a:r>
            <a:r>
              <a:rPr lang="en-US"/>
              <a:t> di accesso .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Semplice </a:t>
            </a:r>
            <a:r>
              <a:rPr lang="en-US" err="1">
                <a:ea typeface="+mn-lt"/>
                <a:cs typeface="+mn-lt"/>
              </a:rPr>
              <a:t>l'estensione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WebXR</a:t>
            </a:r>
            <a:r>
              <a:rPr lang="en-US">
                <a:ea typeface="+mn-lt"/>
                <a:cs typeface="+mn-lt"/>
              </a:rPr>
              <a:t> / AR</a:t>
            </a:r>
            <a:endParaRPr lang="en-US"/>
          </a:p>
          <a:p>
            <a:endParaRPr lang="en-US">
              <a:ea typeface="Calibri"/>
              <a:cs typeface="Calibri"/>
            </a:endParaRPr>
          </a:p>
          <a:p>
            <a:r>
              <a:rPr lang="en-US" err="1">
                <a:ea typeface="Calibri"/>
                <a:cs typeface="Calibri"/>
              </a:rPr>
              <a:t>Caricamento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su</a:t>
            </a:r>
            <a:r>
              <a:rPr lang="en-US">
                <a:ea typeface="Calibri"/>
                <a:cs typeface="Calibri"/>
              </a:rPr>
              <a:t> server </a:t>
            </a:r>
            <a:r>
              <a:rPr lang="en-US" err="1">
                <a:ea typeface="Calibri"/>
                <a:cs typeface="Calibri"/>
              </a:rPr>
              <a:t>Github</a:t>
            </a:r>
            <a:r>
              <a:rPr lang="en-US">
                <a:ea typeface="Calibri"/>
                <a:cs typeface="Calibri"/>
              </a:rPr>
              <a:t> Pages (</a:t>
            </a:r>
            <a:r>
              <a:rPr lang="en-US" err="1">
                <a:ea typeface="Calibri"/>
                <a:cs typeface="Calibri"/>
              </a:rPr>
              <a:t>proprietario</a:t>
            </a:r>
            <a:r>
              <a:rPr lang="en-US">
                <a:ea typeface="Calibri"/>
                <a:cs typeface="Calibri"/>
              </a:rPr>
              <a:t> di Microsoft) con </a:t>
            </a:r>
            <a:r>
              <a:rPr lang="en-US" err="1">
                <a:ea typeface="Calibri"/>
                <a:cs typeface="Calibri"/>
              </a:rPr>
              <a:t>integrazione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servizio</a:t>
            </a:r>
            <a:r>
              <a:rPr lang="en-US">
                <a:ea typeface="Calibri"/>
                <a:cs typeface="Calibri"/>
              </a:rPr>
              <a:t> per </a:t>
            </a:r>
            <a:r>
              <a:rPr lang="en-US" err="1">
                <a:ea typeface="Calibri"/>
                <a:cs typeface="Calibri"/>
              </a:rPr>
              <a:t>protezione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dati</a:t>
            </a:r>
            <a:r>
              <a:rPr lang="en-US">
                <a:ea typeface="Calibri"/>
                <a:cs typeface="Calibri"/>
              </a:rPr>
              <a:t> </a:t>
            </a:r>
            <a:r>
              <a:rPr lang="it-IT" b="1" err="1">
                <a:ea typeface="Calibri"/>
                <a:cs typeface="Calibri"/>
              </a:rPr>
              <a:t>Cloudflare</a:t>
            </a:r>
            <a:r>
              <a:rPr lang="it-IT" b="1">
                <a:ea typeface="Calibri"/>
                <a:cs typeface="Calibri"/>
              </a:rPr>
              <a:t> R2</a:t>
            </a:r>
            <a:r>
              <a:rPr lang="it-IT">
                <a:ea typeface="Calibri"/>
                <a:cs typeface="Calibri"/>
              </a:rPr>
              <a:t> (gratuito fino a 10GB) con accesso solo tramite Worker autenticato per preservare lo </a:t>
            </a:r>
            <a:r>
              <a:rPr lang="it-IT" err="1">
                <a:ea typeface="Calibri"/>
                <a:cs typeface="Calibri"/>
              </a:rPr>
              <a:t>scraping</a:t>
            </a:r>
            <a:r>
              <a:rPr lang="it-IT">
                <a:ea typeface="Calibri"/>
                <a:cs typeface="Calibri"/>
              </a:rPr>
              <a:t> dei modelli 3d.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/>
              <a:t>Il </a:t>
            </a:r>
            <a:r>
              <a:rPr lang="en-US" err="1"/>
              <a:t>sistema</a:t>
            </a:r>
            <a:r>
              <a:rPr lang="en-US"/>
              <a:t> </a:t>
            </a:r>
            <a:r>
              <a:rPr lang="en-US" err="1"/>
              <a:t>però</a:t>
            </a:r>
            <a:r>
              <a:rPr lang="en-US"/>
              <a:t> </a:t>
            </a:r>
            <a:r>
              <a:rPr lang="en-US" err="1"/>
              <a:t>può</a:t>
            </a:r>
            <a:r>
              <a:rPr lang="en-US"/>
              <a:t> </a:t>
            </a:r>
            <a:r>
              <a:rPr lang="en-US" err="1"/>
              <a:t>anche</a:t>
            </a:r>
            <a:r>
              <a:rPr lang="en-US"/>
              <a:t> </a:t>
            </a:r>
            <a:r>
              <a:rPr lang="en-US" err="1"/>
              <a:t>essere</a:t>
            </a:r>
            <a:r>
              <a:rPr lang="en-US"/>
              <a:t> </a:t>
            </a:r>
            <a:r>
              <a:rPr lang="en-US" err="1"/>
              <a:t>installato</a:t>
            </a:r>
            <a:r>
              <a:rPr lang="en-US"/>
              <a:t> in </a:t>
            </a:r>
            <a:r>
              <a:rPr lang="en-US" err="1"/>
              <a:t>macchina</a:t>
            </a:r>
            <a:r>
              <a:rPr lang="en-US"/>
              <a:t> in locale via </a:t>
            </a:r>
            <a:r>
              <a:rPr lang="en-US" err="1"/>
              <a:t>compilazione</a:t>
            </a:r>
            <a:r>
              <a:rPr lang="en-US"/>
              <a:t> Electron (</a:t>
            </a:r>
            <a:r>
              <a:rPr lang="en-US">
                <a:ea typeface="+mn-lt"/>
                <a:cs typeface="+mn-lt"/>
              </a:rPr>
              <a:t>Electron è </a:t>
            </a:r>
            <a:r>
              <a:rPr lang="en-US" err="1">
                <a:ea typeface="+mn-lt"/>
                <a:cs typeface="+mn-lt"/>
              </a:rPr>
              <a:t>sostanzialmente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Chrome + Node.js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impacchettati</a:t>
            </a:r>
            <a:r>
              <a:rPr lang="en-US">
                <a:ea typeface="+mn-lt"/>
                <a:cs typeface="+mn-lt"/>
              </a:rPr>
              <a:t> in un </a:t>
            </a:r>
            <a:r>
              <a:rPr lang="en-US">
                <a:latin typeface="Consolas"/>
              </a:rPr>
              <a:t>.exe</a:t>
            </a:r>
            <a:r>
              <a:rPr lang="en-US">
                <a:ea typeface="+mn-lt"/>
                <a:cs typeface="+mn-lt"/>
              </a:rPr>
              <a:t>. </a:t>
            </a:r>
          </a:p>
          <a:p>
            <a:r>
              <a:rPr lang="en-US">
                <a:ea typeface="+mn-lt"/>
                <a:cs typeface="+mn-lt"/>
              </a:rPr>
              <a:t>CVT web </a:t>
            </a:r>
            <a:r>
              <a:rPr lang="en-US" err="1">
                <a:ea typeface="+mn-lt"/>
                <a:cs typeface="+mn-lt"/>
              </a:rPr>
              <a:t>gira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dentro</a:t>
            </a:r>
            <a:r>
              <a:rPr lang="en-US">
                <a:ea typeface="+mn-lt"/>
                <a:cs typeface="+mn-lt"/>
              </a:rPr>
              <a:t> come se fosse un browser, ma senza barra degli </a:t>
            </a:r>
            <a:r>
              <a:rPr lang="en-US" err="1">
                <a:ea typeface="+mn-lt"/>
                <a:cs typeface="+mn-lt"/>
              </a:rPr>
              <a:t>indirizzi</a:t>
            </a:r>
            <a:r>
              <a:rPr lang="en-US">
                <a:ea typeface="+mn-lt"/>
                <a:cs typeface="+mn-lt"/>
              </a:rPr>
              <a:t> ).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020692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1">
            <a:extLst>
              <a:ext uri="{FF2B5EF4-FFF2-40B4-BE49-F238E27FC236}">
                <a16:creationId xmlns:a16="http://schemas.microsoft.com/office/drawing/2014/main" id="{1ED532C4-40AC-2674-07ED-FCC12E6B0593}"/>
              </a:ext>
            </a:extLst>
          </p:cNvPr>
          <p:cNvSpPr txBox="1"/>
          <p:nvPr/>
        </p:nvSpPr>
        <p:spPr>
          <a:xfrm>
            <a:off x="675006" y="352708"/>
            <a:ext cx="11748740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 err="1">
                <a:solidFill>
                  <a:srgbClr val="083C6E"/>
                </a:solidFill>
              </a:rPr>
              <a:t>Struttura</a:t>
            </a:r>
            <a:r>
              <a:rPr lang="en-US" sz="2400" b="1">
                <a:solidFill>
                  <a:srgbClr val="083C6E"/>
                </a:solidFill>
              </a:rPr>
              <a:t> di un file di script | Massi</a:t>
            </a:r>
          </a:p>
        </p:txBody>
      </p:sp>
    </p:spTree>
    <p:extLst>
      <p:ext uri="{BB962C8B-B14F-4D97-AF65-F5344CB8AC3E}">
        <p14:creationId xmlns:p14="http://schemas.microsoft.com/office/powerpoint/2010/main" val="3382742400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A86CE-9C85-6883-1928-CB20445AC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1">
            <a:extLst>
              <a:ext uri="{FF2B5EF4-FFF2-40B4-BE49-F238E27FC236}">
                <a16:creationId xmlns:a16="http://schemas.microsoft.com/office/drawing/2014/main" id="{596D90C0-FACC-F7E4-94F9-C6FEEC9F1ECF}"/>
              </a:ext>
            </a:extLst>
          </p:cNvPr>
          <p:cNvSpPr txBox="1"/>
          <p:nvPr/>
        </p:nvSpPr>
        <p:spPr>
          <a:xfrm>
            <a:off x="675006" y="352708"/>
            <a:ext cx="11748740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>
                <a:solidFill>
                  <a:srgbClr val="083C6E"/>
                </a:solidFill>
                <a:ea typeface="+mn-ea"/>
              </a:rPr>
              <a:t>Come </a:t>
            </a:r>
            <a:r>
              <a:rPr lang="en-US" sz="2400" b="1" err="1">
                <a:solidFill>
                  <a:srgbClr val="083C6E"/>
                </a:solidFill>
                <a:ea typeface="+mn-ea"/>
              </a:rPr>
              <a:t>proteggiamo</a:t>
            </a:r>
            <a:r>
              <a:rPr lang="en-US" sz="2400" b="1">
                <a:solidFill>
                  <a:srgbClr val="083C6E"/>
                </a:solidFill>
                <a:ea typeface="+mn-ea"/>
              </a:rPr>
              <a:t> I </a:t>
            </a:r>
            <a:r>
              <a:rPr lang="en-US" sz="2400" b="1" err="1">
                <a:solidFill>
                  <a:srgbClr val="083C6E"/>
                </a:solidFill>
                <a:ea typeface="+mn-ea"/>
              </a:rPr>
              <a:t>nostri</a:t>
            </a:r>
            <a:r>
              <a:rPr lang="en-US" sz="2400" b="1">
                <a:solidFill>
                  <a:srgbClr val="083C6E"/>
                </a:solidFill>
                <a:ea typeface="+mn-ea"/>
              </a:rPr>
              <a:t> </a:t>
            </a:r>
            <a:r>
              <a:rPr lang="en-US" sz="2400" b="1" err="1">
                <a:solidFill>
                  <a:srgbClr val="083C6E"/>
                </a:solidFill>
                <a:ea typeface="+mn-ea"/>
              </a:rPr>
              <a:t>modelli</a:t>
            </a:r>
            <a:r>
              <a:rPr lang="en-US" sz="2400" b="1">
                <a:solidFill>
                  <a:srgbClr val="083C6E"/>
                </a:solidFill>
                <a:ea typeface="+mn-ea"/>
              </a:rPr>
              <a:t> 3d | </a:t>
            </a:r>
            <a:r>
              <a:rPr lang="en-US" sz="2400" b="1" err="1">
                <a:solidFill>
                  <a:srgbClr val="083C6E"/>
                </a:solidFill>
                <a:ea typeface="+mn-ea"/>
              </a:rPr>
              <a:t>Cloudfare</a:t>
            </a:r>
            <a:r>
              <a:rPr lang="en-US" sz="2400" b="1">
                <a:solidFill>
                  <a:srgbClr val="083C6E"/>
                </a:solidFill>
                <a:ea typeface="+mn-ea"/>
              </a:rPr>
              <a:t> R2 | Massi</a:t>
            </a:r>
            <a:endParaRPr lang="en-US" sz="2400" b="1">
              <a:solidFill>
                <a:srgbClr val="083C6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AB9DAA-691C-1731-9734-FCF24EE635B2}"/>
              </a:ext>
            </a:extLst>
          </p:cNvPr>
          <p:cNvSpPr txBox="1"/>
          <p:nvPr/>
        </p:nvSpPr>
        <p:spPr>
          <a:xfrm>
            <a:off x="677332" y="885372"/>
            <a:ext cx="11286368" cy="52322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/>
              <a:t> </a:t>
            </a:r>
            <a:r>
              <a:rPr lang="en-US" sz="1600">
                <a:ea typeface="+mn-lt"/>
                <a:cs typeface="+mn-lt"/>
              </a:rPr>
              <a:t>https://www.cloudflare.com/</a:t>
            </a:r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r>
              <a:rPr lang="en-US" sz="1600"/>
              <a:t>Il </a:t>
            </a:r>
            <a:r>
              <a:rPr lang="en-US" sz="1600" err="1"/>
              <a:t>concetto</a:t>
            </a:r>
            <a:r>
              <a:rPr lang="en-US" sz="1600"/>
              <a:t> base: </a:t>
            </a:r>
            <a:r>
              <a:rPr lang="en-US" sz="1600" err="1"/>
              <a:t>stai</a:t>
            </a:r>
            <a:r>
              <a:rPr lang="en-US" sz="1600"/>
              <a:t> in mezzo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>
                <a:ea typeface="+mn-lt"/>
                <a:cs typeface="+mn-lt"/>
              </a:rPr>
              <a:t>Cloudflare </a:t>
            </a:r>
            <a:r>
              <a:rPr lang="en-US" sz="1600" err="1">
                <a:ea typeface="+mn-lt"/>
                <a:cs typeface="+mn-lt"/>
              </a:rPr>
              <a:t>si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posiziona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b="1" err="1">
                <a:ea typeface="+mn-lt"/>
                <a:cs typeface="+mn-lt"/>
              </a:rPr>
              <a:t>tra</a:t>
            </a:r>
            <a:r>
              <a:rPr lang="en-US" sz="1600" b="1">
                <a:ea typeface="+mn-lt"/>
                <a:cs typeface="+mn-lt"/>
              </a:rPr>
              <a:t> internet e il </a:t>
            </a:r>
            <a:r>
              <a:rPr lang="en-US" sz="1600" b="1" err="1">
                <a:ea typeface="+mn-lt"/>
                <a:cs typeface="+mn-lt"/>
              </a:rPr>
              <a:t>tuo</a:t>
            </a:r>
            <a:r>
              <a:rPr lang="en-US" sz="1600" b="1">
                <a:ea typeface="+mn-lt"/>
                <a:cs typeface="+mn-lt"/>
              </a:rPr>
              <a:t> server</a:t>
            </a:r>
            <a:r>
              <a:rPr lang="en-US" sz="1600">
                <a:ea typeface="+mn-lt"/>
                <a:cs typeface="+mn-lt"/>
              </a:rPr>
              <a:t> (reverse proxy). Tutto il </a:t>
            </a:r>
            <a:r>
              <a:rPr lang="en-US" sz="1600" err="1">
                <a:ea typeface="+mn-lt"/>
                <a:cs typeface="+mn-lt"/>
              </a:rPr>
              <a:t>traffico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passa</a:t>
            </a:r>
            <a:r>
              <a:rPr lang="en-US" sz="1600">
                <a:ea typeface="+mn-lt"/>
                <a:cs typeface="+mn-lt"/>
              </a:rPr>
              <a:t> per loro prima di </a:t>
            </a:r>
            <a:r>
              <a:rPr lang="en-US" sz="1600" err="1">
                <a:ea typeface="+mn-lt"/>
                <a:cs typeface="+mn-lt"/>
              </a:rPr>
              <a:t>arrivare</a:t>
            </a:r>
            <a:r>
              <a:rPr lang="en-US" sz="1600">
                <a:ea typeface="+mn-lt"/>
                <a:cs typeface="+mn-lt"/>
              </a:rPr>
              <a:t> da </a:t>
            </a:r>
            <a:r>
              <a:rPr lang="en-US" sz="1600" err="1">
                <a:ea typeface="+mn-lt"/>
                <a:cs typeface="+mn-lt"/>
              </a:rPr>
              <a:t>te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err="1">
                <a:solidFill>
                  <a:srgbClr val="14181F"/>
                </a:solidFill>
                <a:latin typeface="Consolas"/>
              </a:rPr>
              <a:t>Utente</a:t>
            </a:r>
            <a:r>
              <a:rPr lang="en-US" sz="1600">
                <a:solidFill>
                  <a:srgbClr val="14181F"/>
                </a:solidFill>
                <a:latin typeface="Consolas"/>
              </a:rPr>
              <a:t> → Cloudflare → Il </a:t>
            </a:r>
            <a:r>
              <a:rPr lang="en-US" sz="1600" err="1">
                <a:solidFill>
                  <a:srgbClr val="14181F"/>
                </a:solidFill>
                <a:latin typeface="Consolas"/>
              </a:rPr>
              <a:t>tuo</a:t>
            </a:r>
            <a:r>
              <a:rPr lang="en-US" sz="1600">
                <a:solidFill>
                  <a:srgbClr val="14181F"/>
                </a:solidFill>
                <a:latin typeface="Consolas"/>
              </a:rPr>
              <a:t> server
</a:t>
            </a:r>
            <a:r>
              <a:rPr lang="en-US" sz="1600" err="1">
                <a:solidFill>
                  <a:srgbClr val="14181F"/>
                </a:solidFill>
                <a:latin typeface="Consolas"/>
              </a:rPr>
              <a:t>Utente</a:t>
            </a:r>
            <a:r>
              <a:rPr lang="en-US" sz="1600">
                <a:solidFill>
                  <a:srgbClr val="14181F"/>
                </a:solidFill>
                <a:latin typeface="Consolas"/>
              </a:rPr>
              <a:t> ← Cloudflare ← Il </a:t>
            </a:r>
            <a:r>
              <a:rPr lang="en-US" sz="1600" err="1">
                <a:solidFill>
                  <a:srgbClr val="14181F"/>
                </a:solidFill>
                <a:latin typeface="Consolas"/>
              </a:rPr>
              <a:t>tuo</a:t>
            </a:r>
            <a:r>
              <a:rPr lang="en-US" sz="1600">
                <a:solidFill>
                  <a:srgbClr val="14181F"/>
                </a:solidFill>
                <a:latin typeface="Consolas"/>
              </a:rPr>
              <a:t> server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>
                <a:ea typeface="+mn-lt"/>
                <a:cs typeface="+mn-lt"/>
              </a:rPr>
              <a:t>Il </a:t>
            </a:r>
            <a:r>
              <a:rPr lang="en-US" sz="1600" err="1">
                <a:ea typeface="+mn-lt"/>
                <a:cs typeface="+mn-lt"/>
              </a:rPr>
              <a:t>tuo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dominio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punta</a:t>
            </a:r>
            <a:r>
              <a:rPr lang="en-US" sz="1600">
                <a:ea typeface="+mn-lt"/>
                <a:cs typeface="+mn-lt"/>
              </a:rPr>
              <a:t> ai nameserver di Cloudflare, non </a:t>
            </a:r>
            <a:r>
              <a:rPr lang="en-US" sz="1600" err="1">
                <a:ea typeface="+mn-lt"/>
                <a:cs typeface="+mn-lt"/>
              </a:rPr>
              <a:t>direttamente</a:t>
            </a:r>
            <a:r>
              <a:rPr lang="en-US" sz="1600">
                <a:ea typeface="+mn-lt"/>
                <a:cs typeface="+mn-lt"/>
              </a:rPr>
              <a:t> al </a:t>
            </a:r>
            <a:r>
              <a:rPr lang="en-US" sz="1600" err="1">
                <a:ea typeface="+mn-lt"/>
                <a:cs typeface="+mn-lt"/>
              </a:rPr>
              <a:t>tuo</a:t>
            </a:r>
            <a:r>
              <a:rPr lang="en-US" sz="1600">
                <a:ea typeface="+mn-lt"/>
                <a:cs typeface="+mn-lt"/>
              </a:rPr>
              <a:t> hosting.</a:t>
            </a:r>
            <a:endParaRPr lang="en-US" sz="1600">
              <a:ea typeface="Calibri"/>
              <a:cs typeface="Calibri"/>
            </a:endParaRPr>
          </a:p>
          <a:p>
            <a:endParaRPr lang="en-US" sz="1600">
              <a:ea typeface="Calibri"/>
              <a:cs typeface="Calibri"/>
            </a:endParaRPr>
          </a:p>
          <a:p>
            <a:r>
              <a:rPr lang="en-US" sz="1600"/>
              <a:t>Come </a:t>
            </a:r>
            <a:r>
              <a:rPr lang="en-US" sz="1600" err="1"/>
              <a:t>funziona</a:t>
            </a:r>
            <a:r>
              <a:rPr lang="en-US" sz="1600"/>
              <a:t> </a:t>
            </a:r>
            <a:r>
              <a:rPr lang="en-US" sz="1600" err="1"/>
              <a:t>una</a:t>
            </a:r>
            <a:r>
              <a:rPr lang="en-US" sz="1600"/>
              <a:t> request con Worker + R2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 err="1">
                <a:solidFill>
                  <a:srgbClr val="14181F"/>
                </a:solidFill>
                <a:latin typeface="Consolas"/>
              </a:rPr>
              <a:t>Utente</a:t>
            </a:r>
            <a:r>
              <a:rPr lang="en-US" sz="1600">
                <a:solidFill>
                  <a:srgbClr val="14181F"/>
                </a:solidFill>
                <a:latin typeface="Consolas"/>
              </a:rPr>
              <a:t> </a:t>
            </a:r>
            <a:r>
              <a:rPr lang="en-US" sz="1600" err="1">
                <a:solidFill>
                  <a:srgbClr val="14181F"/>
                </a:solidFill>
                <a:latin typeface="Consolas"/>
              </a:rPr>
              <a:t>richiede</a:t>
            </a:r>
            <a:r>
              <a:rPr lang="en-US" sz="1600">
                <a:solidFill>
                  <a:srgbClr val="14181F"/>
                </a:solidFill>
                <a:latin typeface="Consolas"/>
              </a:rPr>
              <a:t> /models/A500.glb
        ↓
CF Worker </a:t>
            </a:r>
            <a:r>
              <a:rPr lang="en-US" sz="1600" err="1">
                <a:solidFill>
                  <a:srgbClr val="14181F"/>
                </a:solidFill>
                <a:latin typeface="Consolas"/>
              </a:rPr>
              <a:t>intercetta</a:t>
            </a:r>
            <a:r>
              <a:rPr lang="en-US" sz="1600">
                <a:solidFill>
                  <a:srgbClr val="14181F"/>
                </a:solidFill>
                <a:latin typeface="Consolas"/>
                <a:ea typeface="Calibri"/>
                <a:cs typeface="Calibri"/>
              </a:rPr>
              <a:t> la request
        ↓
</a:t>
            </a:r>
            <a:r>
              <a:rPr lang="en-US" sz="1600" err="1">
                <a:solidFill>
                  <a:srgbClr val="14181F"/>
                </a:solidFill>
                <a:latin typeface="Consolas"/>
                <a:ea typeface="Calibri"/>
                <a:cs typeface="Calibri"/>
              </a:rPr>
              <a:t>Verifica</a:t>
            </a:r>
            <a:r>
              <a:rPr lang="en-US" sz="1600">
                <a:solidFill>
                  <a:srgbClr val="14181F"/>
                </a:solidFill>
                <a:latin typeface="Consolas"/>
                <a:ea typeface="Calibri"/>
                <a:cs typeface="Calibri"/>
              </a:rPr>
              <a:t> token / origine </a:t>
            </a:r>
            <a:r>
              <a:rPr lang="en-US" sz="1600">
                <a:solidFill>
                  <a:srgbClr val="14181F"/>
                </a:solidFill>
                <a:latin typeface="Consolas"/>
                <a:ea typeface="+mn-lt"/>
                <a:cs typeface="+mn-lt"/>
              </a:rPr>
              <a:t>/ </a:t>
            </a:r>
            <a:r>
              <a:rPr lang="en-US" sz="1600" err="1">
                <a:solidFill>
                  <a:srgbClr val="14181F"/>
                </a:solidFill>
                <a:latin typeface="Consolas"/>
                <a:ea typeface="Calibri"/>
                <a:cs typeface="Calibri"/>
              </a:rPr>
              <a:t>permessi</a:t>
            </a:r>
            <a:r>
              <a:rPr lang="en-US" sz="1600">
                <a:solidFill>
                  <a:srgbClr val="14181F"/>
                </a:solidFill>
                <a:latin typeface="Consolas"/>
                <a:ea typeface="Calibri"/>
                <a:cs typeface="Calibri"/>
              </a:rPr>
              <a:t>
        ↓
  [OK] → fetch da R2 (</a:t>
            </a:r>
            <a:r>
              <a:rPr lang="en-US" sz="1600" err="1">
                <a:solidFill>
                  <a:srgbClr val="14181F"/>
                </a:solidFill>
                <a:latin typeface="Consolas"/>
                <a:ea typeface="Calibri"/>
                <a:cs typeface="Calibri"/>
              </a:rPr>
              <a:t>privato</a:t>
            </a:r>
            <a:r>
              <a:rPr lang="en-US" sz="1600">
                <a:solidFill>
                  <a:srgbClr val="14181F"/>
                </a:solidFill>
                <a:latin typeface="Consolas"/>
                <a:ea typeface="Calibri"/>
                <a:cs typeface="Calibri"/>
              </a:rPr>
              <a:t>) → stream al client
  [NO] → 403 Forbidden</a:t>
            </a:r>
            <a:endParaRPr lang="it-IT" sz="1600">
              <a:ea typeface="Calibri"/>
              <a:cs typeface="Calibri"/>
            </a:endParaRPr>
          </a:p>
          <a:p>
            <a:endParaRPr lang="en-US" sz="1600">
              <a:solidFill>
                <a:srgbClr val="14181F"/>
              </a:solidFill>
              <a:latin typeface="Consolas"/>
              <a:ea typeface="+mn-lt"/>
              <a:cs typeface="+mn-lt"/>
            </a:endParaRPr>
          </a:p>
          <a:p>
            <a:r>
              <a:rPr lang="en-US" sz="1600">
                <a:ea typeface="+mn-lt"/>
                <a:cs typeface="+mn-lt"/>
              </a:rPr>
              <a:t>Il bucket R2 </a:t>
            </a:r>
            <a:r>
              <a:rPr lang="en-US" sz="1600" err="1">
                <a:ea typeface="+mn-lt"/>
                <a:cs typeface="+mn-lt"/>
              </a:rPr>
              <a:t>rimane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b="1" err="1">
                <a:ea typeface="+mn-lt"/>
                <a:cs typeface="+mn-lt"/>
              </a:rPr>
              <a:t>completamente</a:t>
            </a:r>
            <a:r>
              <a:rPr lang="en-US" sz="1600" b="1">
                <a:ea typeface="+mn-lt"/>
                <a:cs typeface="+mn-lt"/>
              </a:rPr>
              <a:t> </a:t>
            </a:r>
            <a:r>
              <a:rPr lang="en-US" sz="1600" b="1" err="1">
                <a:ea typeface="+mn-lt"/>
                <a:cs typeface="+mn-lt"/>
              </a:rPr>
              <a:t>privato</a:t>
            </a:r>
            <a:r>
              <a:rPr lang="en-US" sz="1600">
                <a:ea typeface="+mn-lt"/>
                <a:cs typeface="+mn-lt"/>
              </a:rPr>
              <a:t> — non ha URL </a:t>
            </a:r>
            <a:r>
              <a:rPr lang="en-US" sz="1600" err="1">
                <a:ea typeface="+mn-lt"/>
                <a:cs typeface="+mn-lt"/>
              </a:rPr>
              <a:t>pubblico</a:t>
            </a:r>
            <a:r>
              <a:rPr lang="en-US" sz="1600">
                <a:ea typeface="+mn-lt"/>
                <a:cs typeface="+mn-lt"/>
              </a:rPr>
              <a:t>. Solo il Worker (con accesso </a:t>
            </a:r>
            <a:r>
              <a:rPr lang="en-US" sz="1600" err="1">
                <a:ea typeface="+mn-lt"/>
                <a:cs typeface="+mn-lt"/>
              </a:rPr>
              <a:t>tramite</a:t>
            </a:r>
            <a:r>
              <a:rPr lang="en-US" sz="1600">
                <a:ea typeface="+mn-lt"/>
                <a:cs typeface="+mn-lt"/>
              </a:rPr>
              <a:t> binding) </a:t>
            </a:r>
            <a:r>
              <a:rPr lang="en-US" sz="1600" err="1">
                <a:ea typeface="+mn-lt"/>
                <a:cs typeface="+mn-lt"/>
              </a:rPr>
              <a:t>può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leggere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i</a:t>
            </a:r>
            <a:r>
              <a:rPr lang="en-US" sz="1600">
                <a:ea typeface="+mn-lt"/>
                <a:cs typeface="+mn-lt"/>
              </a:rPr>
              <a:t> file. </a:t>
            </a:r>
            <a:r>
              <a:rPr lang="en-US" sz="1600" err="1">
                <a:ea typeface="+mn-lt"/>
                <a:cs typeface="+mn-lt"/>
              </a:rPr>
              <a:t>L'utente</a:t>
            </a:r>
            <a:r>
              <a:rPr lang="en-US" sz="1600">
                <a:ea typeface="+mn-lt"/>
                <a:cs typeface="+mn-lt"/>
              </a:rPr>
              <a:t> non </a:t>
            </a:r>
            <a:r>
              <a:rPr lang="en-US" sz="1600" err="1">
                <a:ea typeface="+mn-lt"/>
                <a:cs typeface="+mn-lt"/>
              </a:rPr>
              <a:t>conosce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mai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l'URL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reale</a:t>
            </a:r>
            <a:r>
              <a:rPr lang="en-US" sz="1600">
                <a:ea typeface="+mn-lt"/>
                <a:cs typeface="+mn-lt"/>
              </a:rPr>
              <a:t> del file.</a:t>
            </a:r>
          </a:p>
          <a:p>
            <a:endParaRPr lang="en-US" sz="1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478873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5A604-5130-130A-DA8B-88E020319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1">
            <a:extLst>
              <a:ext uri="{FF2B5EF4-FFF2-40B4-BE49-F238E27FC236}">
                <a16:creationId xmlns:a16="http://schemas.microsoft.com/office/drawing/2014/main" id="{3DEEABBA-7BC7-401F-152B-AB01B7C921A0}"/>
              </a:ext>
            </a:extLst>
          </p:cNvPr>
          <p:cNvSpPr txBox="1"/>
          <p:nvPr/>
        </p:nvSpPr>
        <p:spPr>
          <a:xfrm>
            <a:off x="675006" y="338194"/>
            <a:ext cx="11748740" cy="267765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>
                <a:solidFill>
                  <a:srgbClr val="083C6E"/>
                </a:solidFill>
                <a:ea typeface="+mn-ea"/>
              </a:rPr>
              <a:t>Budget e </a:t>
            </a:r>
            <a:r>
              <a:rPr lang="en-US" sz="2400" b="1" err="1">
                <a:solidFill>
                  <a:srgbClr val="083C6E"/>
                </a:solidFill>
                <a:ea typeface="+mn-ea"/>
              </a:rPr>
              <a:t>riso</a:t>
            </a:r>
            <a:r>
              <a:rPr lang="en-US" sz="2400" b="1" err="1">
                <a:solidFill>
                  <a:srgbClr val="083C6E"/>
                </a:solidFill>
              </a:rPr>
              <a:t>rse</a:t>
            </a:r>
            <a:r>
              <a:rPr lang="en-US" sz="2400" b="1">
                <a:solidFill>
                  <a:srgbClr val="083C6E"/>
                </a:solidFill>
              </a:rPr>
              <a:t> | standby</a:t>
            </a:r>
          </a:p>
          <a:p>
            <a:endParaRPr lang="en-US" sz="2400" b="1">
              <a:solidFill>
                <a:srgbClr val="083C6E"/>
              </a:solidFill>
            </a:endParaRPr>
          </a:p>
          <a:p>
            <a:endParaRPr lang="en-US" sz="2400" b="1">
              <a:solidFill>
                <a:srgbClr val="083C6E"/>
              </a:solidFill>
            </a:endParaRPr>
          </a:p>
          <a:p>
            <a:endParaRPr lang="en-US" sz="2400" b="1">
              <a:solidFill>
                <a:srgbClr val="083C6E"/>
              </a:solidFill>
            </a:endParaRPr>
          </a:p>
          <a:p>
            <a:endParaRPr lang="en-US" sz="2400" b="1">
              <a:solidFill>
                <a:srgbClr val="083C6E"/>
              </a:solidFill>
            </a:endParaRPr>
          </a:p>
          <a:p>
            <a:endParaRPr lang="en-US" sz="2400" b="1">
              <a:solidFill>
                <a:srgbClr val="083C6E"/>
              </a:solidFill>
            </a:endParaRPr>
          </a:p>
          <a:p>
            <a:endParaRPr lang="en-US" sz="2400" b="1">
              <a:solidFill>
                <a:srgbClr val="083C6E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65A7C0-EE1D-D765-C20F-03BBE423F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432427"/>
              </p:ext>
            </p:extLst>
          </p:nvPr>
        </p:nvGraphicFramePr>
        <p:xfrm>
          <a:off x="798285" y="899885"/>
          <a:ext cx="10828984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14492">
                  <a:extLst>
                    <a:ext uri="{9D8B030D-6E8A-4147-A177-3AD203B41FA5}">
                      <a16:colId xmlns:a16="http://schemas.microsoft.com/office/drawing/2014/main" val="3079215052"/>
                    </a:ext>
                  </a:extLst>
                </a:gridCol>
                <a:gridCol w="5414492">
                  <a:extLst>
                    <a:ext uri="{9D8B030D-6E8A-4147-A177-3AD203B41FA5}">
                      <a16:colId xmlns:a16="http://schemas.microsoft.com/office/drawing/2014/main" val="5195464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Costi: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/>
                        <a:t>Tempo  </a:t>
                      </a:r>
                      <a:r>
                        <a:rPr lang="en-US" err="1"/>
                        <a:t>sviluppo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risorsa</a:t>
                      </a:r>
                      <a:r>
                        <a:rPr lang="en-US"/>
                        <a:t> (40–50% del </a:t>
                      </a:r>
                      <a:r>
                        <a:rPr lang="en-US" err="1"/>
                        <a:t>ruolo</a:t>
                      </a:r>
                      <a:r>
                        <a:rPr lang="en-US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Riallocazione</a:t>
                      </a:r>
                      <a:r>
                        <a:rPr lang="en-US"/>
                        <a:t> interna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624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Infrastruttura</a:t>
                      </a:r>
                      <a:r>
                        <a:rPr lang="en-US"/>
                        <a:t> cloud +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€3.000–5.000/anno (</a:t>
                      </a:r>
                      <a:r>
                        <a:rPr lang="en-US" err="1"/>
                        <a:t>stima</a:t>
                      </a:r>
                      <a:r>
                        <a:rPr lang="en-US"/>
                        <a:t> per </a:t>
                      </a:r>
                      <a:r>
                        <a:rPr lang="en-US" err="1"/>
                        <a:t>costi</a:t>
                      </a:r>
                      <a:r>
                        <a:rPr lang="en-US"/>
                        <a:t> di </a:t>
                      </a:r>
                      <a:r>
                        <a:rPr lang="en-US" err="1"/>
                        <a:t>manutenzione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sito</a:t>
                      </a:r>
                      <a:r>
                        <a:rPr lang="en-US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497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Formazione</a:t>
                      </a:r>
                      <a:r>
                        <a:rPr lang="en-US"/>
                        <a:t> e </a:t>
                      </a:r>
                      <a:r>
                        <a:rPr lang="en-US" err="1"/>
                        <a:t>partecipazione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eventi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€1.000–1.500/anno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4891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err="1"/>
                        <a:t>Totale</a:t>
                      </a:r>
                      <a:endParaRPr lang="en-US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€ + </a:t>
                      </a:r>
                      <a:r>
                        <a:rPr lang="en-US" b="1" err="1"/>
                        <a:t>costo</a:t>
                      </a:r>
                      <a:r>
                        <a:rPr lang="en-US" b="1"/>
                        <a:t> </a:t>
                      </a:r>
                      <a:r>
                        <a:rPr lang="en-US" b="1" err="1"/>
                        <a:t>opportunità</a:t>
                      </a:r>
                      <a:endParaRPr lang="en-US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78295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4E9DBC8-4BED-FBC7-2DE8-65B7C8113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770774"/>
              </p:ext>
            </p:extLst>
          </p:nvPr>
        </p:nvGraphicFramePr>
        <p:xfrm>
          <a:off x="798286" y="3996509"/>
          <a:ext cx="9229856" cy="1463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07464">
                  <a:extLst>
                    <a:ext uri="{9D8B030D-6E8A-4147-A177-3AD203B41FA5}">
                      <a16:colId xmlns:a16="http://schemas.microsoft.com/office/drawing/2014/main" val="3268413349"/>
                    </a:ext>
                  </a:extLst>
                </a:gridCol>
                <a:gridCol w="2307464">
                  <a:extLst>
                    <a:ext uri="{9D8B030D-6E8A-4147-A177-3AD203B41FA5}">
                      <a16:colId xmlns:a16="http://schemas.microsoft.com/office/drawing/2014/main" val="2427790991"/>
                    </a:ext>
                  </a:extLst>
                </a:gridCol>
                <a:gridCol w="2307464">
                  <a:extLst>
                    <a:ext uri="{9D8B030D-6E8A-4147-A177-3AD203B41FA5}">
                      <a16:colId xmlns:a16="http://schemas.microsoft.com/office/drawing/2014/main" val="1613704074"/>
                    </a:ext>
                  </a:extLst>
                </a:gridCol>
                <a:gridCol w="2307464">
                  <a:extLst>
                    <a:ext uri="{9D8B030D-6E8A-4147-A177-3AD203B41FA5}">
                      <a16:colId xmlns:a16="http://schemas.microsoft.com/office/drawing/2014/main" val="8799499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Scenario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Clienti abbonati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Prezzo/anno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Ricavo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4727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Conservativo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€400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€40.000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018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€600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€180.000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857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Ottimistico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€800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€480.000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1023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ACAD084-8384-143C-1112-B3DAED12B0EF}"/>
              </a:ext>
            </a:extLst>
          </p:cNvPr>
          <p:cNvSpPr txBox="1"/>
          <p:nvPr/>
        </p:nvSpPr>
        <p:spPr>
          <a:xfrm>
            <a:off x="798286" y="3429001"/>
            <a:ext cx="1021805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Ricavo da abbonamento (target cliente)</a:t>
            </a:r>
          </a:p>
          <a:p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58378"/>
      </p:ext>
    </p:extLst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5A604-5130-130A-DA8B-88E020319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1">
            <a:extLst>
              <a:ext uri="{FF2B5EF4-FFF2-40B4-BE49-F238E27FC236}">
                <a16:creationId xmlns:a16="http://schemas.microsoft.com/office/drawing/2014/main" id="{3DEEABBA-7BC7-401F-152B-AB01B7C921A0}"/>
              </a:ext>
            </a:extLst>
          </p:cNvPr>
          <p:cNvSpPr txBox="1"/>
          <p:nvPr/>
        </p:nvSpPr>
        <p:spPr>
          <a:xfrm>
            <a:off x="675006" y="338194"/>
            <a:ext cx="11748740" cy="267765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>
                <a:solidFill>
                  <a:srgbClr val="083C6E"/>
                </a:solidFill>
                <a:ea typeface="+mn-ea"/>
              </a:rPr>
              <a:t>Budget e </a:t>
            </a:r>
            <a:r>
              <a:rPr lang="en-US" sz="2400" b="1" err="1">
                <a:solidFill>
                  <a:srgbClr val="083C6E"/>
                </a:solidFill>
                <a:ea typeface="+mn-ea"/>
              </a:rPr>
              <a:t>riso</a:t>
            </a:r>
            <a:r>
              <a:rPr lang="en-US" sz="2400" b="1" err="1">
                <a:solidFill>
                  <a:srgbClr val="083C6E"/>
                </a:solidFill>
              </a:rPr>
              <a:t>rse</a:t>
            </a:r>
            <a:r>
              <a:rPr lang="en-US" sz="2400" b="1">
                <a:solidFill>
                  <a:srgbClr val="083C6E"/>
                </a:solidFill>
              </a:rPr>
              <a:t> | standby</a:t>
            </a:r>
          </a:p>
          <a:p>
            <a:endParaRPr lang="en-US" sz="2400" b="1">
              <a:solidFill>
                <a:srgbClr val="083C6E"/>
              </a:solidFill>
            </a:endParaRPr>
          </a:p>
          <a:p>
            <a:endParaRPr lang="en-US" sz="2400" b="1">
              <a:solidFill>
                <a:srgbClr val="083C6E"/>
              </a:solidFill>
            </a:endParaRPr>
          </a:p>
          <a:p>
            <a:endParaRPr lang="en-US" sz="2400" b="1">
              <a:solidFill>
                <a:srgbClr val="083C6E"/>
              </a:solidFill>
            </a:endParaRPr>
          </a:p>
          <a:p>
            <a:endParaRPr lang="en-US" sz="2400" b="1">
              <a:solidFill>
                <a:srgbClr val="083C6E"/>
              </a:solidFill>
            </a:endParaRPr>
          </a:p>
          <a:p>
            <a:endParaRPr lang="en-US" sz="2400" b="1">
              <a:solidFill>
                <a:srgbClr val="083C6E"/>
              </a:solidFill>
            </a:endParaRPr>
          </a:p>
          <a:p>
            <a:endParaRPr lang="en-US" sz="2400" b="1">
              <a:solidFill>
                <a:srgbClr val="083C6E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65A7C0-EE1D-D765-C20F-03BBE423F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432427"/>
              </p:ext>
            </p:extLst>
          </p:nvPr>
        </p:nvGraphicFramePr>
        <p:xfrm>
          <a:off x="798285" y="899885"/>
          <a:ext cx="10828984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14492">
                  <a:extLst>
                    <a:ext uri="{9D8B030D-6E8A-4147-A177-3AD203B41FA5}">
                      <a16:colId xmlns:a16="http://schemas.microsoft.com/office/drawing/2014/main" val="3079215052"/>
                    </a:ext>
                  </a:extLst>
                </a:gridCol>
                <a:gridCol w="5414492">
                  <a:extLst>
                    <a:ext uri="{9D8B030D-6E8A-4147-A177-3AD203B41FA5}">
                      <a16:colId xmlns:a16="http://schemas.microsoft.com/office/drawing/2014/main" val="5195464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Costi: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/>
                        <a:t>Tempo  </a:t>
                      </a:r>
                      <a:r>
                        <a:rPr lang="en-US" err="1"/>
                        <a:t>sviluppo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risorsa</a:t>
                      </a:r>
                      <a:r>
                        <a:rPr lang="en-US"/>
                        <a:t> (40–50% del </a:t>
                      </a:r>
                      <a:r>
                        <a:rPr lang="en-US" err="1"/>
                        <a:t>ruolo</a:t>
                      </a:r>
                      <a:r>
                        <a:rPr lang="en-US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Riallocazione</a:t>
                      </a:r>
                      <a:r>
                        <a:rPr lang="en-US"/>
                        <a:t> interna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624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Infrastruttura</a:t>
                      </a:r>
                      <a:r>
                        <a:rPr lang="en-US"/>
                        <a:t> cloud +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€3.000–5.000/anno (</a:t>
                      </a:r>
                      <a:r>
                        <a:rPr lang="en-US" err="1"/>
                        <a:t>stima</a:t>
                      </a:r>
                      <a:r>
                        <a:rPr lang="en-US"/>
                        <a:t> per </a:t>
                      </a:r>
                      <a:r>
                        <a:rPr lang="en-US" err="1"/>
                        <a:t>costi</a:t>
                      </a:r>
                      <a:r>
                        <a:rPr lang="en-US"/>
                        <a:t> di </a:t>
                      </a:r>
                      <a:r>
                        <a:rPr lang="en-US" err="1"/>
                        <a:t>manutenzione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sito</a:t>
                      </a:r>
                      <a:r>
                        <a:rPr lang="en-US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497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Formazione</a:t>
                      </a:r>
                      <a:r>
                        <a:rPr lang="en-US"/>
                        <a:t> e </a:t>
                      </a:r>
                      <a:r>
                        <a:rPr lang="en-US" err="1"/>
                        <a:t>partecipazione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eventi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€1.000–1.500/anno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4891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err="1"/>
                        <a:t>Totale</a:t>
                      </a:r>
                      <a:endParaRPr lang="en-US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€ + </a:t>
                      </a:r>
                      <a:r>
                        <a:rPr lang="en-US" b="1" err="1"/>
                        <a:t>costo</a:t>
                      </a:r>
                      <a:r>
                        <a:rPr lang="en-US" b="1"/>
                        <a:t> </a:t>
                      </a:r>
                      <a:r>
                        <a:rPr lang="en-US" b="1" err="1"/>
                        <a:t>opportunità</a:t>
                      </a:r>
                      <a:endParaRPr lang="en-US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78295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4E9DBC8-4BED-FBC7-2DE8-65B7C8113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770774"/>
              </p:ext>
            </p:extLst>
          </p:nvPr>
        </p:nvGraphicFramePr>
        <p:xfrm>
          <a:off x="798286" y="3996509"/>
          <a:ext cx="9229856" cy="1463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07464">
                  <a:extLst>
                    <a:ext uri="{9D8B030D-6E8A-4147-A177-3AD203B41FA5}">
                      <a16:colId xmlns:a16="http://schemas.microsoft.com/office/drawing/2014/main" val="3268413349"/>
                    </a:ext>
                  </a:extLst>
                </a:gridCol>
                <a:gridCol w="2307464">
                  <a:extLst>
                    <a:ext uri="{9D8B030D-6E8A-4147-A177-3AD203B41FA5}">
                      <a16:colId xmlns:a16="http://schemas.microsoft.com/office/drawing/2014/main" val="2427790991"/>
                    </a:ext>
                  </a:extLst>
                </a:gridCol>
                <a:gridCol w="2307464">
                  <a:extLst>
                    <a:ext uri="{9D8B030D-6E8A-4147-A177-3AD203B41FA5}">
                      <a16:colId xmlns:a16="http://schemas.microsoft.com/office/drawing/2014/main" val="1613704074"/>
                    </a:ext>
                  </a:extLst>
                </a:gridCol>
                <a:gridCol w="2307464">
                  <a:extLst>
                    <a:ext uri="{9D8B030D-6E8A-4147-A177-3AD203B41FA5}">
                      <a16:colId xmlns:a16="http://schemas.microsoft.com/office/drawing/2014/main" val="8799499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Scenario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Clienti abbonati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Prezzo/anno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Ricavo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4727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Conservativo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€400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€40.000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018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€600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€180.000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857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Ottimistico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€800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€480.000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51023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ACAD084-8384-143C-1112-B3DAED12B0EF}"/>
              </a:ext>
            </a:extLst>
          </p:cNvPr>
          <p:cNvSpPr txBox="1"/>
          <p:nvPr/>
        </p:nvSpPr>
        <p:spPr>
          <a:xfrm>
            <a:off x="798286" y="3429001"/>
            <a:ext cx="1021805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Ricavo da abbonamento (target cliente)</a:t>
            </a:r>
          </a:p>
          <a:p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293839"/>
      </p:ext>
    </p:extLst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00000" y="300000"/>
            <a:ext cx="10500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rPr dirty="0" err="1">
                <a:solidFill>
                  <a:schemeClr val="tx2"/>
                </a:solidFill>
                <a:latin typeface="Calibri Light"/>
              </a:rPr>
              <a:t>Perché</a:t>
            </a:r>
            <a:r>
              <a:rPr dirty="0">
                <a:solidFill>
                  <a:schemeClr val="tx2"/>
                </a:solidFill>
                <a:latin typeface="Calibri Light"/>
              </a:rPr>
              <a:t> un </a:t>
            </a:r>
            <a:r>
              <a:rPr dirty="0" err="1">
                <a:solidFill>
                  <a:schemeClr val="tx2"/>
                </a:solidFill>
                <a:latin typeface="Calibri Light"/>
              </a:rPr>
              <a:t>cliente</a:t>
            </a:r>
            <a:r>
              <a:rPr dirty="0">
                <a:solidFill>
                  <a:schemeClr val="tx2"/>
                </a:solidFill>
                <a:latin typeface="Calibri Light"/>
              </a:rPr>
              <a:t> </a:t>
            </a:r>
            <a:r>
              <a:rPr dirty="0" err="1">
                <a:solidFill>
                  <a:schemeClr val="tx2"/>
                </a:solidFill>
                <a:latin typeface="Calibri Light"/>
              </a:rPr>
              <a:t>dovrebbe</a:t>
            </a:r>
            <a:endParaRPr dirty="0">
              <a:solidFill>
                <a:schemeClr val="tx2"/>
              </a:solidFill>
              <a:latin typeface="Calibri Light"/>
            </a:endParaRPr>
          </a:p>
          <a:p>
            <a:pPr algn="ctr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rPr dirty="0" err="1">
                <a:solidFill>
                  <a:schemeClr val="tx2"/>
                </a:solidFill>
                <a:latin typeface="Calibri Light"/>
              </a:rPr>
              <a:t>acquistare</a:t>
            </a:r>
            <a:r>
              <a:rPr dirty="0">
                <a:solidFill>
                  <a:schemeClr val="tx2"/>
                </a:solidFill>
                <a:latin typeface="Calibri Light"/>
              </a:rPr>
              <a:t> Campus Virtual Training</a:t>
            </a:r>
            <a:r>
              <a:rPr dirty="0">
                <a:latin typeface="Calibri Light"/>
              </a:rPr>
              <a:t>?</a:t>
            </a:r>
          </a:p>
        </p:txBody>
      </p:sp>
      <p:sp>
        <p:nvSpPr>
          <p:cNvPr id="4" name="Rectangle 3"/>
          <p:cNvSpPr/>
          <p:nvPr/>
        </p:nvSpPr>
        <p:spPr>
          <a:xfrm>
            <a:off x="4050000" y="1697054"/>
            <a:ext cx="4000000" cy="12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0000" y="3100000"/>
            <a:ext cx="1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DDEE"/>
                </a:solidFill>
                <a:latin typeface="Calibri"/>
              </a:defRPr>
            </a:pPr>
            <a:r>
              <a:rPr>
                <a:latin typeface="Calibri"/>
              </a:rPr>
              <a:t>Vantaggi economici quantificati  |  Luglio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2800000"/>
            <a:ext cx="90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3063"/>
                </a:solidFill>
                <a:latin typeface="Calibri"/>
              </a:defRPr>
            </a:pPr>
            <a:r>
              <a:rPr dirty="0">
                <a:latin typeface="Calibri"/>
              </a:rPr>
              <a:t>La </a:t>
            </a:r>
            <a:r>
              <a:rPr dirty="0" err="1">
                <a:latin typeface="Calibri"/>
              </a:rPr>
              <a:t>formazione</a:t>
            </a:r>
            <a:r>
              <a:rPr dirty="0">
                <a:latin typeface="Calibri"/>
              </a:rPr>
              <a:t> </a:t>
            </a:r>
            <a:r>
              <a:rPr dirty="0" err="1">
                <a:latin typeface="Calibri"/>
              </a:rPr>
              <a:t>tradizionale</a:t>
            </a:r>
            <a:r>
              <a:rPr dirty="0">
                <a:latin typeface="Calibri"/>
              </a:rPr>
              <a:t> costa </a:t>
            </a:r>
            <a:r>
              <a:rPr dirty="0" err="1">
                <a:latin typeface="Calibri"/>
              </a:rPr>
              <a:t>cara</a:t>
            </a:r>
            <a:r>
              <a:rPr dirty="0">
                <a:latin typeface="Calibri"/>
              </a:rPr>
              <a:t>:</a:t>
            </a:r>
          </a:p>
          <a:p>
            <a:pPr algn="ctr">
              <a:defRPr sz="1400" b="0">
                <a:solidFill>
                  <a:srgbClr val="44546A"/>
                </a:solidFill>
                <a:latin typeface="Calibri"/>
              </a:defRPr>
            </a:pPr>
            <a:r>
              <a:rPr dirty="0">
                <a:latin typeface="Calibri"/>
              </a:rPr>
              <a:t>✗  €800-2.000/</a:t>
            </a:r>
            <a:r>
              <a:rPr dirty="0" err="1">
                <a:latin typeface="Calibri"/>
              </a:rPr>
              <a:t>giornata</a:t>
            </a:r>
            <a:r>
              <a:rPr dirty="0">
                <a:latin typeface="Calibri"/>
              </a:rPr>
              <a:t> per un </a:t>
            </a:r>
            <a:r>
              <a:rPr dirty="0" err="1">
                <a:latin typeface="Calibri"/>
              </a:rPr>
              <a:t>corso</a:t>
            </a:r>
            <a:r>
              <a:rPr dirty="0">
                <a:latin typeface="Calibri"/>
              </a:rPr>
              <a:t> in aula SCM</a:t>
            </a:r>
          </a:p>
          <a:p>
            <a:pPr algn="ctr">
              <a:defRPr sz="1400" b="0">
                <a:solidFill>
                  <a:srgbClr val="44546A"/>
                </a:solidFill>
                <a:latin typeface="Calibri"/>
              </a:defRPr>
            </a:pPr>
            <a:r>
              <a:rPr dirty="0">
                <a:latin typeface="Calibri"/>
              </a:rPr>
              <a:t>✗  €300-600 di </a:t>
            </a:r>
            <a:r>
              <a:rPr dirty="0" err="1">
                <a:latin typeface="Calibri"/>
              </a:rPr>
              <a:t>trasferta</a:t>
            </a:r>
            <a:r>
              <a:rPr dirty="0">
                <a:latin typeface="Calibri"/>
              </a:rPr>
              <a:t> per </a:t>
            </a:r>
            <a:r>
              <a:rPr dirty="0" err="1">
                <a:latin typeface="Calibri"/>
              </a:rPr>
              <a:t>ogni</a:t>
            </a:r>
            <a:r>
              <a:rPr dirty="0">
                <a:latin typeface="Calibri"/>
              </a:rPr>
              <a:t> </a:t>
            </a:r>
            <a:r>
              <a:rPr dirty="0" err="1">
                <a:latin typeface="Calibri"/>
              </a:rPr>
              <a:t>sessione</a:t>
            </a:r>
            <a:endParaRPr dirty="0">
              <a:latin typeface="Calibri"/>
            </a:endParaRPr>
          </a:p>
          <a:p>
            <a:pPr algn="ctr">
              <a:defRPr sz="1400" b="0">
                <a:solidFill>
                  <a:srgbClr val="44546A"/>
                </a:solidFill>
                <a:latin typeface="Calibri"/>
              </a:defRPr>
            </a:pPr>
            <a:r>
              <a:rPr dirty="0">
                <a:latin typeface="Calibri"/>
              </a:rPr>
              <a:t>✗  Ore di </a:t>
            </a:r>
            <a:r>
              <a:rPr dirty="0" err="1">
                <a:latin typeface="Calibri"/>
              </a:rPr>
              <a:t>fermo</a:t>
            </a:r>
            <a:r>
              <a:rPr dirty="0">
                <a:latin typeface="Calibri"/>
              </a:rPr>
              <a:t> </a:t>
            </a:r>
            <a:r>
              <a:rPr dirty="0" err="1">
                <a:latin typeface="Calibri"/>
              </a:rPr>
              <a:t>produzione</a:t>
            </a:r>
            <a:r>
              <a:rPr dirty="0">
                <a:latin typeface="Calibri"/>
              </a:rPr>
              <a:t> per </a:t>
            </a:r>
            <a:r>
              <a:rPr dirty="0" err="1">
                <a:latin typeface="Calibri"/>
              </a:rPr>
              <a:t>formare</a:t>
            </a:r>
            <a:r>
              <a:rPr dirty="0">
                <a:latin typeface="Calibri"/>
              </a:rPr>
              <a:t> </a:t>
            </a:r>
            <a:r>
              <a:rPr dirty="0" err="1">
                <a:latin typeface="Calibri"/>
              </a:rPr>
              <a:t>il</a:t>
            </a:r>
            <a:r>
              <a:rPr dirty="0">
                <a:latin typeface="Calibri"/>
              </a:rPr>
              <a:t> </a:t>
            </a:r>
            <a:r>
              <a:rPr dirty="0" err="1">
                <a:latin typeface="Calibri"/>
              </a:rPr>
              <a:t>personale</a:t>
            </a:r>
            <a:endParaRPr dirty="0">
              <a:latin typeface="Calibri"/>
            </a:endParaRPr>
          </a:p>
          <a:p>
            <a:pPr algn="ctr">
              <a:defRPr sz="1400" b="0">
                <a:solidFill>
                  <a:srgbClr val="44546A"/>
                </a:solidFill>
                <a:latin typeface="Calibri"/>
              </a:defRPr>
            </a:pPr>
            <a:r>
              <a:rPr dirty="0">
                <a:latin typeface="Calibri"/>
              </a:rPr>
              <a:t>✗  </a:t>
            </a:r>
            <a:r>
              <a:rPr dirty="0" err="1">
                <a:latin typeface="Calibri"/>
              </a:rPr>
              <a:t>Nessuna</a:t>
            </a:r>
            <a:r>
              <a:rPr dirty="0">
                <a:latin typeface="Calibri"/>
              </a:rPr>
              <a:t> </a:t>
            </a:r>
            <a:r>
              <a:rPr dirty="0" err="1">
                <a:latin typeface="Calibri"/>
              </a:rPr>
              <a:t>garanzia</a:t>
            </a:r>
            <a:r>
              <a:rPr dirty="0">
                <a:latin typeface="Calibri"/>
              </a:rPr>
              <a:t> </a:t>
            </a:r>
            <a:r>
              <a:rPr dirty="0" err="1">
                <a:latin typeface="Calibri"/>
              </a:rPr>
              <a:t>che</a:t>
            </a:r>
            <a:r>
              <a:rPr dirty="0">
                <a:latin typeface="Calibri"/>
              </a:rPr>
              <a:t> </a:t>
            </a:r>
            <a:r>
              <a:rPr dirty="0" err="1">
                <a:latin typeface="Calibri"/>
              </a:rPr>
              <a:t>l'operatore</a:t>
            </a:r>
            <a:r>
              <a:rPr dirty="0">
                <a:latin typeface="Calibri"/>
              </a:rPr>
              <a:t> </a:t>
            </a:r>
            <a:r>
              <a:rPr dirty="0" err="1">
                <a:latin typeface="Calibri"/>
              </a:rPr>
              <a:t>abbia</a:t>
            </a:r>
            <a:r>
              <a:rPr dirty="0">
                <a:latin typeface="Calibri"/>
              </a:rPr>
              <a:t> </a:t>
            </a:r>
            <a:r>
              <a:rPr dirty="0" err="1">
                <a:latin typeface="Calibri"/>
              </a:rPr>
              <a:t>appreso</a:t>
            </a:r>
            <a:endParaRPr dirty="0">
              <a:latin typeface="Calibri"/>
            </a:endParaRPr>
          </a:p>
          <a:p>
            <a:pPr algn="l">
              <a:defRPr sz="1000" b="0">
                <a:solidFill>
                  <a:srgbClr val="000000"/>
                </a:solidFill>
                <a:latin typeface="Calibri"/>
              </a:defRPr>
            </a:pPr>
            <a:endParaRPr dirty="0">
              <a:latin typeface="Calibri"/>
            </a:endParaRPr>
          </a:p>
          <a:p>
            <a:pPr algn="ctr">
              <a:defRPr sz="1600" b="1">
                <a:solidFill>
                  <a:srgbClr val="083C6E"/>
                </a:solidFill>
                <a:latin typeface="Calibri"/>
              </a:defRPr>
            </a:pPr>
            <a:r>
              <a:rPr dirty="0">
                <a:latin typeface="Calibri"/>
              </a:rPr>
              <a:t>La </a:t>
            </a:r>
            <a:r>
              <a:rPr dirty="0" err="1">
                <a:latin typeface="Calibri"/>
              </a:rPr>
              <a:t>risposta</a:t>
            </a:r>
            <a:r>
              <a:rPr dirty="0">
                <a:latin typeface="Calibri"/>
              </a:rPr>
              <a:t>: CVT — tutorial 3D on-demand, </a:t>
            </a:r>
            <a:r>
              <a:rPr dirty="0" err="1">
                <a:latin typeface="Calibri"/>
              </a:rPr>
              <a:t>nessun</a:t>
            </a:r>
            <a:r>
              <a:rPr dirty="0">
                <a:latin typeface="Calibri"/>
              </a:rPr>
              <a:t> </a:t>
            </a:r>
            <a:r>
              <a:rPr dirty="0" err="1">
                <a:latin typeface="Calibri"/>
              </a:rPr>
              <a:t>visore</a:t>
            </a:r>
            <a:r>
              <a:rPr dirty="0">
                <a:latin typeface="Calibri"/>
              </a:rPr>
              <a:t>, </a:t>
            </a:r>
            <a:r>
              <a:rPr dirty="0" err="1">
                <a:latin typeface="Calibri"/>
              </a:rPr>
              <a:t>nessuna</a:t>
            </a:r>
            <a:r>
              <a:rPr dirty="0">
                <a:latin typeface="Calibri"/>
              </a:rPr>
              <a:t> </a:t>
            </a:r>
            <a:r>
              <a:rPr dirty="0" err="1">
                <a:latin typeface="Calibri"/>
              </a:rPr>
              <a:t>trasferta</a:t>
            </a:r>
            <a:r>
              <a:rPr dirty="0">
                <a:latin typeface="Calibri"/>
              </a:rPr>
              <a:t>.</a:t>
            </a:r>
          </a:p>
          <a:p>
            <a:pPr algn="ctr">
              <a:defRPr sz="1600" b="1">
                <a:solidFill>
                  <a:srgbClr val="083C6E"/>
                </a:solidFill>
                <a:latin typeface="Calibri"/>
              </a:defRPr>
            </a:pPr>
            <a:r>
              <a:rPr dirty="0" err="1">
                <a:latin typeface="Calibri"/>
              </a:rPr>
              <a:t>Abbonamento</a:t>
            </a:r>
            <a:r>
              <a:rPr dirty="0">
                <a:latin typeface="Calibri"/>
              </a:rPr>
              <a:t> da €400-800/anno, </a:t>
            </a:r>
            <a:r>
              <a:rPr dirty="0" err="1">
                <a:latin typeface="Calibri"/>
              </a:rPr>
              <a:t>attivazione</a:t>
            </a:r>
            <a:r>
              <a:rPr dirty="0">
                <a:latin typeface="Calibri"/>
              </a:rPr>
              <a:t> in ore, </a:t>
            </a:r>
            <a:r>
              <a:rPr dirty="0" err="1">
                <a:latin typeface="Calibri"/>
              </a:rPr>
              <a:t>disponibile</a:t>
            </a:r>
            <a:r>
              <a:rPr dirty="0">
                <a:latin typeface="Calibri"/>
              </a:rPr>
              <a:t> 24/7.</a:t>
            </a:r>
          </a:p>
        </p:txBody>
      </p:sp>
    </p:spTree>
    <p:extLst>
      <p:ext uri="{BB962C8B-B14F-4D97-AF65-F5344CB8AC3E}">
        <p14:creationId xmlns:p14="http://schemas.microsoft.com/office/powerpoint/2010/main" val="3813908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8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0000" y="60000"/>
            <a:ext cx="11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rPr>
                <a:latin typeface="Calibri Light"/>
              </a:rPr>
              <a:t>I vantaggi economici quantificati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000" y="510000"/>
            <a:ext cx="110000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083C6E"/>
                </a:solidFill>
                <a:latin typeface="Calibri"/>
              </a:defRPr>
            </a:pPr>
            <a:r>
              <a:rPr>
                <a:latin typeface="Calibri"/>
              </a:rPr>
              <a:t>Quanto vale CVT per il cliente?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27900" y="1672930"/>
            <a:ext cx="2072100" cy="19765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7900" y="808644"/>
            <a:ext cx="2072100" cy="410556"/>
          </a:xfrm>
          <a:prstGeom prst="rect">
            <a:avLst/>
          </a:prstGeom>
          <a:solidFill>
            <a:srgbClr val="08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6306" y="821500"/>
            <a:ext cx="19536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dirty="0">
                <a:latin typeface="Calibri"/>
              </a:rPr>
              <a:t>1. </a:t>
            </a:r>
            <a:r>
              <a:rPr dirty="0" err="1">
                <a:latin typeface="Calibri"/>
              </a:rPr>
              <a:t>Riduzione</a:t>
            </a:r>
            <a:r>
              <a:rPr dirty="0">
                <a:latin typeface="Calibri"/>
              </a:rPr>
              <a:t> </a:t>
            </a:r>
            <a:r>
              <a:rPr dirty="0" smtClean="0">
                <a:latin typeface="Calibri"/>
              </a:rPr>
              <a:t>ticket </a:t>
            </a:r>
            <a:r>
              <a:rPr dirty="0">
                <a:latin typeface="Calibri"/>
              </a:rPr>
              <a:t>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306" y="1864358"/>
            <a:ext cx="195369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rPr dirty="0">
                <a:latin typeface="Calibri"/>
              </a:rPr>
              <a:t>Un ticket SCM costa €200-800.</a:t>
            </a:r>
            <a:r>
              <a:rPr dirty="0"/>
              <a:t/>
            </a:r>
            <a:br>
              <a:rPr dirty="0"/>
            </a:br>
            <a:r>
              <a:rPr dirty="0" err="1">
                <a:latin typeface="Calibri"/>
              </a:rPr>
              <a:t>Ogni</a:t>
            </a:r>
            <a:r>
              <a:rPr dirty="0">
                <a:latin typeface="Calibri"/>
              </a:rPr>
              <a:t> tutorial </a:t>
            </a:r>
            <a:r>
              <a:rPr dirty="0" err="1">
                <a:latin typeface="Calibri"/>
              </a:rPr>
              <a:t>evita</a:t>
            </a:r>
            <a:r>
              <a:rPr dirty="0">
                <a:latin typeface="Calibri"/>
              </a:rPr>
              <a:t> 3-6 ticket/anno</a:t>
            </a:r>
            <a:r>
              <a:rPr dirty="0"/>
              <a:t/>
            </a:r>
            <a:br>
              <a:rPr dirty="0"/>
            </a:br>
            <a:r>
              <a:rPr dirty="0">
                <a:latin typeface="Calibri"/>
              </a:rPr>
              <a:t>per deficit </a:t>
            </a:r>
            <a:r>
              <a:rPr dirty="0" err="1">
                <a:latin typeface="Calibri"/>
              </a:rPr>
              <a:t>formativo</a:t>
            </a:r>
            <a:r>
              <a:rPr dirty="0">
                <a:latin typeface="Calibri"/>
              </a:rPr>
              <a:t>.</a:t>
            </a: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>
                <a:latin typeface="Calibri"/>
              </a:rPr>
              <a:t>▶ </a:t>
            </a:r>
            <a:r>
              <a:rPr dirty="0" err="1">
                <a:latin typeface="Calibri"/>
              </a:rPr>
              <a:t>Risparmio</a:t>
            </a:r>
            <a:r>
              <a:rPr dirty="0">
                <a:latin typeface="Calibri"/>
              </a:rPr>
              <a:t>: €1.200/anno</a:t>
            </a:r>
            <a:r>
              <a:rPr dirty="0"/>
              <a:t/>
            </a:r>
            <a:br>
              <a:rPr dirty="0"/>
            </a:br>
            <a:r>
              <a:rPr dirty="0">
                <a:latin typeface="Calibri"/>
              </a:rPr>
              <a:t>▶ </a:t>
            </a:r>
            <a:r>
              <a:rPr dirty="0" err="1">
                <a:latin typeface="Calibri"/>
              </a:rPr>
              <a:t>Abbonamento</a:t>
            </a:r>
            <a:r>
              <a:rPr dirty="0">
                <a:latin typeface="Calibri"/>
              </a:rPr>
              <a:t> Base: €400</a:t>
            </a:r>
            <a:r>
              <a:rPr dirty="0"/>
              <a:t/>
            </a:r>
            <a:br>
              <a:rPr dirty="0"/>
            </a:br>
            <a:r>
              <a:rPr dirty="0">
                <a:latin typeface="Calibri"/>
              </a:rPr>
              <a:t>▶ ROI: 3x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77900" y="1672930"/>
            <a:ext cx="2072100" cy="19765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77900" y="808644"/>
            <a:ext cx="2072100" cy="410556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16306" y="821500"/>
            <a:ext cx="19536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2. Riduzione downtime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6306" y="1864358"/>
            <a:ext cx="1953694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rPr dirty="0">
                <a:latin typeface="Calibri"/>
              </a:rPr>
              <a:t>1h di </a:t>
            </a:r>
            <a:r>
              <a:rPr dirty="0" err="1">
                <a:latin typeface="Calibri"/>
              </a:rPr>
              <a:t>fermo</a:t>
            </a:r>
            <a:r>
              <a:rPr dirty="0">
                <a:latin typeface="Calibri"/>
              </a:rPr>
              <a:t> </a:t>
            </a:r>
            <a:r>
              <a:rPr dirty="0" err="1">
                <a:latin typeface="Calibri"/>
              </a:rPr>
              <a:t>linea</a:t>
            </a:r>
            <a:r>
              <a:rPr dirty="0">
                <a:latin typeface="Calibri"/>
              </a:rPr>
              <a:t> = €500-2.000.</a:t>
            </a:r>
            <a:r>
              <a:rPr dirty="0"/>
              <a:t/>
            </a:r>
            <a:br>
              <a:rPr dirty="0"/>
            </a:br>
            <a:r>
              <a:rPr dirty="0">
                <a:latin typeface="Calibri"/>
              </a:rPr>
              <a:t>Tutorial </a:t>
            </a:r>
            <a:r>
              <a:rPr dirty="0" err="1">
                <a:latin typeface="Calibri"/>
              </a:rPr>
              <a:t>corretto</a:t>
            </a:r>
            <a:r>
              <a:rPr dirty="0">
                <a:latin typeface="Calibri"/>
              </a:rPr>
              <a:t> = </a:t>
            </a:r>
            <a:r>
              <a:rPr dirty="0" err="1">
                <a:latin typeface="Calibri"/>
              </a:rPr>
              <a:t>meno</a:t>
            </a:r>
            <a:r>
              <a:rPr dirty="0">
                <a:latin typeface="Calibri"/>
              </a:rPr>
              <a:t> </a:t>
            </a:r>
            <a:r>
              <a:rPr dirty="0" err="1">
                <a:latin typeface="Calibri"/>
              </a:rPr>
              <a:t>errori</a:t>
            </a:r>
            <a:r>
              <a:rPr dirty="0">
                <a:latin typeface="Calibri"/>
              </a:rPr>
              <a:t>,</a:t>
            </a:r>
            <a:r>
              <a:rPr dirty="0"/>
              <a:t/>
            </a:r>
            <a:br>
              <a:rPr dirty="0"/>
            </a:br>
            <a:r>
              <a:rPr dirty="0" err="1">
                <a:latin typeface="Calibri"/>
              </a:rPr>
              <a:t>meno</a:t>
            </a:r>
            <a:r>
              <a:rPr dirty="0">
                <a:latin typeface="Calibri"/>
              </a:rPr>
              <a:t> </a:t>
            </a:r>
            <a:r>
              <a:rPr dirty="0" err="1">
                <a:latin typeface="Calibri"/>
              </a:rPr>
              <a:t>attese</a:t>
            </a:r>
            <a:r>
              <a:rPr dirty="0">
                <a:latin typeface="Calibri"/>
              </a:rPr>
              <a:t> del </a:t>
            </a:r>
            <a:r>
              <a:rPr dirty="0" err="1">
                <a:latin typeface="Calibri"/>
              </a:rPr>
              <a:t>tecnico</a:t>
            </a:r>
            <a:r>
              <a:rPr dirty="0">
                <a:latin typeface="Calibri"/>
              </a:rPr>
              <a:t> (24-72h).</a:t>
            </a: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>
                <a:latin typeface="Calibri"/>
              </a:rPr>
              <a:t>▶ </a:t>
            </a:r>
            <a:r>
              <a:rPr dirty="0" err="1">
                <a:latin typeface="Calibri"/>
              </a:rPr>
              <a:t>Risparmio</a:t>
            </a:r>
            <a:r>
              <a:rPr dirty="0">
                <a:latin typeface="Calibri"/>
              </a:rPr>
              <a:t>: €4.000/anno</a:t>
            </a:r>
            <a:r>
              <a:rPr dirty="0"/>
              <a:t/>
            </a:r>
            <a:br>
              <a:rPr dirty="0"/>
            </a:br>
            <a:r>
              <a:rPr dirty="0">
                <a:latin typeface="Calibri"/>
              </a:rPr>
              <a:t>▶ </a:t>
            </a:r>
            <a:r>
              <a:rPr dirty="0" err="1">
                <a:latin typeface="Calibri"/>
              </a:rPr>
              <a:t>Abbonamento</a:t>
            </a:r>
            <a:r>
              <a:rPr dirty="0">
                <a:latin typeface="Calibri"/>
              </a:rPr>
              <a:t>: €800</a:t>
            </a:r>
            <a:r>
              <a:rPr dirty="0"/>
              <a:t/>
            </a:r>
            <a:br>
              <a:rPr dirty="0"/>
            </a:br>
            <a:r>
              <a:rPr dirty="0">
                <a:latin typeface="Calibri"/>
              </a:rPr>
              <a:t>▶ ROI: 5x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7900" y="1672930"/>
            <a:ext cx="2072100" cy="207357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27900" y="808644"/>
            <a:ext cx="2072100" cy="41055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306" y="821500"/>
            <a:ext cx="19536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3. Eliminazione corsi aula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306" y="1864358"/>
            <a:ext cx="1953694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rPr>
                <a:latin typeface="Calibri"/>
              </a:rPr>
              <a:t>Corsi SCM: €800-2.000/giornata</a:t>
            </a:r>
            <a:r>
              <a:t/>
            </a:r>
            <a:br/>
            <a:r>
              <a:rPr>
                <a:latin typeface="Calibri"/>
              </a:rPr>
              <a:t>+ viaggio + hotel + ore perse.</a:t>
            </a:r>
            <a:r>
              <a:t/>
            </a:r>
            <a:br/>
            <a:r>
              <a:rPr>
                <a:latin typeface="Calibri"/>
              </a:rPr>
              <a:t>Sostituiti da tutorial on-demand.</a:t>
            </a:r>
            <a:r>
              <a:t/>
            </a:r>
            <a:br/>
            <a:r>
              <a:t/>
            </a:r>
            <a:br/>
            <a:r>
              <a:rPr>
                <a:latin typeface="Calibri"/>
              </a:rPr>
              <a:t>▶ Risparmio: €8.000-15.000/anno</a:t>
            </a:r>
            <a:r>
              <a:t/>
            </a:r>
            <a:br/>
            <a:r>
              <a:rPr>
                <a:latin typeface="Calibri"/>
              </a:rPr>
              <a:t>▶ Abbonamento: €400-800</a:t>
            </a:r>
            <a:r>
              <a:t/>
            </a:r>
            <a:br/>
            <a:r>
              <a:rPr>
                <a:latin typeface="Calibri"/>
              </a:rPr>
              <a:t>▶ ROI: 10-20x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77900" y="1672930"/>
            <a:ext cx="2072100" cy="207357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777900" y="808643"/>
            <a:ext cx="2072100" cy="410557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16306" y="821500"/>
            <a:ext cx="19536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4. Onboarding accelerato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6306" y="1864358"/>
            <a:ext cx="1953694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rPr>
                <a:latin typeface="Calibri"/>
              </a:rPr>
              <a:t>Nuovo assunto senza CVT:</a:t>
            </a:r>
            <a:r>
              <a:t/>
            </a:r>
            <a:br/>
            <a:r>
              <a:rPr>
                <a:latin typeface="Calibri"/>
              </a:rPr>
              <a:t>2-4 settimane per produttività.</a:t>
            </a:r>
            <a:r>
              <a:t/>
            </a:r>
            <a:br/>
            <a:r>
              <a:rPr>
                <a:latin typeface="Calibri"/>
              </a:rPr>
              <a:t>Con CVT: 2-3 giorni.</a:t>
            </a:r>
            <a:r>
              <a:t/>
            </a:r>
            <a:br/>
            <a:r>
              <a:t/>
            </a:r>
            <a:br/>
            <a:r>
              <a:rPr>
                <a:latin typeface="Calibri"/>
              </a:rPr>
              <a:t>▶ Recupero: €3.000-6.000</a:t>
            </a:r>
            <a:r>
              <a:t/>
            </a:r>
            <a:br/>
            <a:r>
              <a:rPr>
                <a:latin typeface="Calibri"/>
              </a:rPr>
              <a:t>   per ogni nuovo assunto</a:t>
            </a:r>
            <a:r>
              <a:t/>
            </a:r>
            <a:br/>
            <a:r>
              <a:rPr>
                <a:latin typeface="Calibri"/>
              </a:rPr>
              <a:t>▶ Abbonamento: incluso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7900" y="4700478"/>
            <a:ext cx="10872100" cy="600000"/>
          </a:xfrm>
          <a:prstGeom prst="rect">
            <a:avLst/>
          </a:prstGeom>
          <a:solidFill>
            <a:srgbClr val="003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0000" y="4810333"/>
            <a:ext cx="11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TOTALE risparmio annuo: €10.000 - €20.000/anno  |  Abbonamento: €400 - €800  |  ROI: 10-25x</a:t>
            </a:r>
          </a:p>
        </p:txBody>
      </p:sp>
    </p:spTree>
    <p:extLst>
      <p:ext uri="{BB962C8B-B14F-4D97-AF65-F5344CB8AC3E}">
        <p14:creationId xmlns:p14="http://schemas.microsoft.com/office/powerpoint/2010/main" val="4121419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8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0000" y="60000"/>
            <a:ext cx="11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rPr>
                <a:latin typeface="Calibri Light"/>
              </a:rPr>
              <a:t>ROI complessivo per il cliente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905006"/>
              </p:ext>
            </p:extLst>
          </p:nvPr>
        </p:nvGraphicFramePr>
        <p:xfrm>
          <a:off x="927100" y="900000"/>
          <a:ext cx="108729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8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8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Voce di risparmio</a:t>
                      </a:r>
                    </a:p>
                  </a:txBody>
                  <a:tcPr anchor="ctr">
                    <a:solidFill>
                      <a:srgbClr val="08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Risparmio annuo</a:t>
                      </a:r>
                    </a:p>
                  </a:txBody>
                  <a:tcPr anchor="ctr">
                    <a:solidFill>
                      <a:srgbClr val="08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Abbonamento</a:t>
                      </a:r>
                    </a:p>
                  </a:txBody>
                  <a:tcPr anchor="ctr">
                    <a:solidFill>
                      <a:srgbClr val="08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ROI</a:t>
                      </a:r>
                    </a:p>
                  </a:txBody>
                  <a:tcPr anchor="ctr">
                    <a:solidFill>
                      <a:srgbClr val="083C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Ticket service evitati (3-5 ticket/anno)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€1.200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€400 (Base)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3x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Downtime ridotto (4h/anno evitate)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€4.000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€800 (Professional)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5x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Corsi aula eliminati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€8.000-15.000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€400-800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10-20x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Onboarding accelerato (per assunto)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€3.000-6.000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Incluso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00000" y="3200000"/>
            <a:ext cx="114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83C6E"/>
                </a:solidFill>
                <a:latin typeface="Calibri"/>
              </a:defRPr>
            </a:pPr>
            <a:r>
              <a:rPr>
                <a:latin typeface="Calibri"/>
              </a:rPr>
              <a:t>Il primo tutorial seguito evita già almeno 1 chiamata al service — €200-800.</a:t>
            </a:r>
            <a:r>
              <a:t/>
            </a:r>
            <a:br/>
            <a:r>
              <a:rPr>
                <a:latin typeface="Calibri"/>
              </a:rPr>
              <a:t>L'investimento è ripagato nel primo mese. Ogni tutorial successivo è guadagno netto.</a:t>
            </a:r>
          </a:p>
        </p:txBody>
      </p:sp>
    </p:spTree>
    <p:extLst>
      <p:ext uri="{BB962C8B-B14F-4D97-AF65-F5344CB8AC3E}">
        <p14:creationId xmlns:p14="http://schemas.microsoft.com/office/powerpoint/2010/main" val="540010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8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0000" y="60000"/>
            <a:ext cx="11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rPr>
                <a:latin typeface="Calibri Light"/>
              </a:rPr>
              <a:t>Perché il rinnovo è automatico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0000"/>
            <a:ext cx="12192000" cy="2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50000" y="510000"/>
            <a:ext cx="110000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083C6E"/>
                </a:solidFill>
                <a:latin typeface="Calibri"/>
              </a:defRPr>
            </a:pPr>
            <a:r>
              <a:rPr>
                <a:latin typeface="Calibri"/>
              </a:rPr>
              <a:t>Vantaggi che crescono nel tempo</a:t>
            </a:r>
          </a:p>
        </p:txBody>
      </p:sp>
      <p:sp>
        <p:nvSpPr>
          <p:cNvPr id="6" name="Rectangle 5"/>
          <p:cNvSpPr/>
          <p:nvPr/>
        </p:nvSpPr>
        <p:spPr>
          <a:xfrm>
            <a:off x="664300" y="960000"/>
            <a:ext cx="2117000" cy="30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4300" y="960000"/>
            <a:ext cx="2117000" cy="280000"/>
          </a:xfrm>
          <a:prstGeom prst="rect">
            <a:avLst/>
          </a:prstGeom>
          <a:solidFill>
            <a:srgbClr val="08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632" y="980000"/>
            <a:ext cx="19557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Catalogo crescente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632" y="1280000"/>
            <a:ext cx="19557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rPr>
                <a:latin typeface="Calibri"/>
              </a:rPr>
              <a:t>Ogni anno arrivano tutorial</a:t>
            </a:r>
            <a:r>
              <a:t/>
            </a:r>
            <a:br/>
            <a:r>
              <a:rPr>
                <a:latin typeface="Calibri"/>
              </a:rPr>
              <a:t>per nuove macchine e procedure.</a:t>
            </a:r>
            <a:r>
              <a:t/>
            </a:r>
            <a:br/>
            <a:r>
              <a:rPr>
                <a:latin typeface="Calibri"/>
              </a:rPr>
              <a:t>Più valore, stesso prezzo.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64300" y="960000"/>
            <a:ext cx="2117000" cy="30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64300" y="960000"/>
            <a:ext cx="2117000" cy="280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632" y="980000"/>
            <a:ext cx="19557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Sostituzione manuali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632" y="1280000"/>
            <a:ext cx="195570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rPr>
                <a:latin typeface="Calibri"/>
              </a:rPr>
              <a:t>I manuali cartacei vengono</a:t>
            </a:r>
            <a:r>
              <a:t/>
            </a:r>
            <a:br/>
            <a:r>
              <a:rPr>
                <a:latin typeface="Calibri"/>
              </a:rPr>
              <a:t>eliminati. Il personale si</a:t>
            </a:r>
            <a:r>
              <a:t/>
            </a:r>
            <a:br/>
            <a:r>
              <a:rPr>
                <a:latin typeface="Calibri"/>
              </a:rPr>
              <a:t>abitua al formato 3D.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64300" y="960000"/>
            <a:ext cx="2117000" cy="30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64300" y="960000"/>
            <a:ext cx="2117000" cy="280000"/>
          </a:xfrm>
          <a:prstGeom prst="rect">
            <a:avLst/>
          </a:prstGeom>
          <a:solidFill>
            <a:srgbClr val="08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17632" y="980000"/>
            <a:ext cx="19557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Onboarding infrastr.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7632" y="1280000"/>
            <a:ext cx="195570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rPr>
                <a:latin typeface="Calibri"/>
              </a:rPr>
              <a:t>Nuovi assunti formati in giorni.</a:t>
            </a:r>
            <a:r>
              <a:t/>
            </a:r>
            <a:br/>
            <a:r>
              <a:rPr>
                <a:latin typeface="Calibri"/>
              </a:rPr>
              <a:t>La piattaforma diventa</a:t>
            </a:r>
            <a:r>
              <a:t/>
            </a:r>
            <a:br/>
            <a:r>
              <a:rPr>
                <a:latin typeface="Calibri"/>
              </a:rPr>
              <a:t>infrastruttura aziendale.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64300" y="960000"/>
            <a:ext cx="2117000" cy="30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564300" y="960000"/>
            <a:ext cx="2117000" cy="280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17632" y="980000"/>
            <a:ext cx="19557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Tutorial proprietari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7632" y="1280000"/>
            <a:ext cx="19557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rPr>
                <a:latin typeface="Calibri"/>
              </a:rPr>
              <a:t>Il cliente crea i propri contenuti</a:t>
            </a:r>
            <a:r>
              <a:t/>
            </a:r>
            <a:br/>
            <a:r>
              <a:rPr>
                <a:latin typeface="Calibri"/>
              </a:rPr>
              <a:t>con l'editor. Il valore</a:t>
            </a:r>
            <a:r>
              <a:t/>
            </a:r>
            <a:br/>
            <a:r>
              <a:rPr>
                <a:latin typeface="Calibri"/>
              </a:rPr>
              <a:t>cresce con l'uso.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64300" y="960000"/>
            <a:ext cx="2117000" cy="30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864300" y="960000"/>
            <a:ext cx="2117000" cy="280000"/>
          </a:xfrm>
          <a:prstGeom prst="rect">
            <a:avLst/>
          </a:prstGeom>
          <a:solidFill>
            <a:srgbClr val="08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17632" y="980000"/>
            <a:ext cx="19557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Lock-in positivo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7632" y="1280000"/>
            <a:ext cx="195570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Calibri"/>
              </a:defRPr>
            </a:pPr>
            <a:r>
              <a:rPr>
                <a:latin typeface="Calibri"/>
              </a:rPr>
              <a:t>Più tutorial si accumulano,</a:t>
            </a:r>
            <a:r>
              <a:t/>
            </a:r>
            <a:br/>
            <a:r>
              <a:rPr>
                <a:latin typeface="Calibri"/>
              </a:rPr>
              <a:t>più la piattaforma è</a:t>
            </a:r>
            <a:r>
              <a:t/>
            </a:r>
            <a:br/>
            <a:r>
              <a:rPr>
                <a:latin typeface="Calibri"/>
              </a:rPr>
              <a:t>indispensabile.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000" y="4300000"/>
            <a:ext cx="11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4546A"/>
                </a:solidFill>
                <a:latin typeface="Calibri"/>
              </a:defRPr>
            </a:pPr>
            <a:r>
              <a:rPr>
                <a:latin typeface="Calibri"/>
              </a:rPr>
              <a:t>Anche se il prezzo raddoppiasse, CVT costerebbe ancora 10x meno dei competitor enterprise.</a:t>
            </a:r>
          </a:p>
        </p:txBody>
      </p:sp>
    </p:spTree>
    <p:extLst>
      <p:ext uri="{BB962C8B-B14F-4D97-AF65-F5344CB8AC3E}">
        <p14:creationId xmlns:p14="http://schemas.microsoft.com/office/powerpoint/2010/main" val="3206492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00000"/>
          </a:xfrm>
          <a:prstGeom prst="rect">
            <a:avLst/>
          </a:prstGeom>
          <a:solidFill>
            <a:srgbClr val="08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0000" y="60000"/>
            <a:ext cx="11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 Light"/>
              </a:defRPr>
            </a:pPr>
            <a:r>
              <a:rPr>
                <a:latin typeface="Calibri Light"/>
              </a:rPr>
              <a:t>Confronto con le alternative enterprise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0000"/>
            <a:ext cx="12192000" cy="2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50000" y="510000"/>
            <a:ext cx="110000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083C6E"/>
                </a:solidFill>
                <a:latin typeface="Calibri"/>
              </a:defRPr>
            </a:pPr>
            <a:r>
              <a:rPr>
                <a:latin typeface="Calibri"/>
              </a:rPr>
              <a:t>Perché non comprare Strivr, Talespin o EON?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240459"/>
              </p:ext>
            </p:extLst>
          </p:nvPr>
        </p:nvGraphicFramePr>
        <p:xfrm>
          <a:off x="698500" y="900000"/>
          <a:ext cx="112015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Prodotto</a:t>
                      </a:r>
                    </a:p>
                  </a:txBody>
                  <a:tcPr anchor="ctr">
                    <a:solidFill>
                      <a:srgbClr val="08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Prezzo annuo</a:t>
                      </a:r>
                    </a:p>
                  </a:txBody>
                  <a:tcPr anchor="ctr">
                    <a:solidFill>
                      <a:srgbClr val="08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VR?</a:t>
                      </a:r>
                    </a:p>
                  </a:txBody>
                  <a:tcPr anchor="ctr">
                    <a:solidFill>
                      <a:srgbClr val="08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Tempi</a:t>
                      </a:r>
                    </a:p>
                  </a:txBody>
                  <a:tcPr anchor="ctr">
                    <a:solidFill>
                      <a:srgbClr val="08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Target</a:t>
                      </a:r>
                    </a:p>
                  </a:txBody>
                  <a:tcPr anchor="ctr">
                    <a:solidFill>
                      <a:srgbClr val="083C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Campus Virtual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€400 - €5.000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PMI (95% mercato)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Strivr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$50.000 - $250.000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Sì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Mesi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Fortune 500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Talespin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$30.000 - $150.000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Sì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Mesi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Grandi aziende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EON Reality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€10.000 - €50.000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Opz.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Settimane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Education+Enterprise</a:t>
                      </a:r>
                    </a:p>
                  </a:txBody>
                  <a:tcPr anchor="ctr">
                    <a:solidFill>
                      <a:srgbClr val="E8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PTC Vuforia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$5.000 - $100.000+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Opz.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>
                          <a:latin typeface="Calibri"/>
                        </a:rPr>
                        <a:t>Settimane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rPr dirty="0" err="1">
                          <a:latin typeface="Calibri"/>
                        </a:rPr>
                        <a:t>Grandi</a:t>
                      </a:r>
                      <a:r>
                        <a:rPr dirty="0">
                          <a:latin typeface="Calibri"/>
                        </a:rPr>
                        <a:t> </a:t>
                      </a:r>
                      <a:r>
                        <a:rPr dirty="0" err="1">
                          <a:latin typeface="Calibri"/>
                        </a:rPr>
                        <a:t>manifatturiere</a:t>
                      </a:r>
                      <a:endParaRPr dirty="0">
                        <a:latin typeface="Calibr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98500" y="3228600"/>
            <a:ext cx="11201500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3063"/>
                </a:solidFill>
                <a:latin typeface="Calibri"/>
              </a:defRPr>
            </a:pPr>
            <a:r>
              <a:rPr dirty="0">
                <a:latin typeface="Calibri"/>
              </a:rPr>
              <a:t>Il 95% del </a:t>
            </a:r>
            <a:r>
              <a:rPr dirty="0" err="1">
                <a:latin typeface="Calibri"/>
              </a:rPr>
              <a:t>tessuto</a:t>
            </a:r>
            <a:r>
              <a:rPr dirty="0">
                <a:latin typeface="Calibri"/>
              </a:rPr>
              <a:t> </a:t>
            </a:r>
            <a:r>
              <a:rPr dirty="0" err="1">
                <a:latin typeface="Calibri"/>
              </a:rPr>
              <a:t>industriale</a:t>
            </a:r>
            <a:r>
              <a:rPr dirty="0">
                <a:latin typeface="Calibri"/>
              </a:rPr>
              <a:t> </a:t>
            </a:r>
            <a:r>
              <a:rPr dirty="0" err="1">
                <a:latin typeface="Calibri"/>
              </a:rPr>
              <a:t>italiano</a:t>
            </a:r>
            <a:r>
              <a:rPr dirty="0">
                <a:latin typeface="Calibri"/>
              </a:rPr>
              <a:t> </a:t>
            </a:r>
            <a:r>
              <a:rPr dirty="0" err="1">
                <a:latin typeface="Calibri"/>
              </a:rPr>
              <a:t>sono</a:t>
            </a:r>
            <a:r>
              <a:rPr dirty="0">
                <a:latin typeface="Calibri"/>
              </a:rPr>
              <a:t> PMI con 5-50 </a:t>
            </a:r>
            <a:r>
              <a:rPr dirty="0" err="1">
                <a:latin typeface="Calibri"/>
              </a:rPr>
              <a:t>dipendenti</a:t>
            </a:r>
            <a:r>
              <a:rPr dirty="0">
                <a:latin typeface="Calibri"/>
              </a:rPr>
              <a:t>.</a:t>
            </a:r>
          </a:p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rPr dirty="0">
                <a:latin typeface="Calibri"/>
              </a:rPr>
              <a:t>✗  </a:t>
            </a:r>
            <a:r>
              <a:rPr dirty="0" err="1">
                <a:latin typeface="Calibri"/>
              </a:rPr>
              <a:t>Strivr</a:t>
            </a:r>
            <a:r>
              <a:rPr dirty="0">
                <a:latin typeface="Calibri"/>
              </a:rPr>
              <a:t>/</a:t>
            </a:r>
            <a:r>
              <a:rPr dirty="0" err="1">
                <a:latin typeface="Calibri"/>
              </a:rPr>
              <a:t>Talespin</a:t>
            </a:r>
            <a:r>
              <a:rPr dirty="0">
                <a:latin typeface="Calibri"/>
              </a:rPr>
              <a:t>: budget </a:t>
            </a:r>
            <a:r>
              <a:rPr dirty="0" err="1">
                <a:latin typeface="Calibri"/>
              </a:rPr>
              <a:t>annuale</a:t>
            </a:r>
            <a:r>
              <a:rPr dirty="0">
                <a:latin typeface="Calibri"/>
              </a:rPr>
              <a:t> &gt; </a:t>
            </a:r>
            <a:r>
              <a:rPr dirty="0" err="1">
                <a:latin typeface="Calibri"/>
              </a:rPr>
              <a:t>intero</a:t>
            </a:r>
            <a:r>
              <a:rPr dirty="0">
                <a:latin typeface="Calibri"/>
              </a:rPr>
              <a:t> budget </a:t>
            </a:r>
            <a:r>
              <a:rPr dirty="0" err="1">
                <a:latin typeface="Calibri"/>
              </a:rPr>
              <a:t>formazione</a:t>
            </a:r>
            <a:r>
              <a:rPr dirty="0">
                <a:latin typeface="Calibri"/>
              </a:rPr>
              <a:t> di </a:t>
            </a:r>
            <a:r>
              <a:rPr dirty="0" err="1">
                <a:latin typeface="Calibri"/>
              </a:rPr>
              <a:t>una</a:t>
            </a:r>
            <a:r>
              <a:rPr dirty="0">
                <a:latin typeface="Calibri"/>
              </a:rPr>
              <a:t> PMI</a:t>
            </a:r>
          </a:p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rPr dirty="0">
                <a:latin typeface="Calibri"/>
              </a:rPr>
              <a:t>✗  </a:t>
            </a:r>
            <a:r>
              <a:rPr dirty="0" err="1">
                <a:latin typeface="Calibri"/>
              </a:rPr>
              <a:t>Richiedono</a:t>
            </a:r>
            <a:r>
              <a:rPr dirty="0">
                <a:latin typeface="Calibri"/>
              </a:rPr>
              <a:t> headset VR (€500-1.000/cad.) + </a:t>
            </a:r>
            <a:r>
              <a:rPr dirty="0" err="1">
                <a:latin typeface="Calibri"/>
              </a:rPr>
              <a:t>consulenza</a:t>
            </a:r>
            <a:r>
              <a:rPr dirty="0">
                <a:latin typeface="Calibri"/>
              </a:rPr>
              <a:t> </a:t>
            </a:r>
            <a:r>
              <a:rPr dirty="0" err="1">
                <a:latin typeface="Calibri"/>
              </a:rPr>
              <a:t>implementativa</a:t>
            </a:r>
            <a:endParaRPr dirty="0">
              <a:latin typeface="Calibri"/>
            </a:endParaRPr>
          </a:p>
          <a:p>
            <a:pPr algn="l">
              <a:defRPr sz="1300" b="0">
                <a:solidFill>
                  <a:srgbClr val="44546A"/>
                </a:solidFill>
                <a:latin typeface="Calibri"/>
              </a:defRPr>
            </a:pPr>
            <a:r>
              <a:rPr dirty="0">
                <a:latin typeface="Calibri"/>
              </a:rPr>
              <a:t>✗  Tempi di </a:t>
            </a:r>
            <a:r>
              <a:rPr dirty="0" err="1">
                <a:latin typeface="Calibri"/>
              </a:rPr>
              <a:t>attivazione</a:t>
            </a:r>
            <a:r>
              <a:rPr dirty="0">
                <a:latin typeface="Calibri"/>
              </a:rPr>
              <a:t> in </a:t>
            </a:r>
            <a:r>
              <a:rPr dirty="0" err="1">
                <a:latin typeface="Calibri"/>
              </a:rPr>
              <a:t>mesi</a:t>
            </a:r>
            <a:r>
              <a:rPr dirty="0">
                <a:latin typeface="Calibri"/>
              </a:rPr>
              <a:t>, </a:t>
            </a:r>
            <a:r>
              <a:rPr dirty="0" err="1">
                <a:latin typeface="Calibri"/>
              </a:rPr>
              <a:t>quando</a:t>
            </a:r>
            <a:r>
              <a:rPr dirty="0">
                <a:latin typeface="Calibri"/>
              </a:rPr>
              <a:t> serve </a:t>
            </a:r>
            <a:r>
              <a:rPr dirty="0" err="1">
                <a:latin typeface="Calibri"/>
              </a:rPr>
              <a:t>subito</a:t>
            </a:r>
            <a:endParaRPr dirty="0">
              <a:latin typeface="Calibri"/>
            </a:endParaRPr>
          </a:p>
          <a:p>
            <a:pPr algn="l">
              <a:defRPr sz="800" b="0">
                <a:solidFill>
                  <a:srgbClr val="000000"/>
                </a:solidFill>
                <a:latin typeface="Calibri"/>
              </a:defRPr>
            </a:pPr>
            <a:endParaRPr dirty="0">
              <a:latin typeface="Calibri"/>
            </a:endParaRPr>
          </a:p>
          <a:p>
            <a:pPr algn="ctr">
              <a:defRPr sz="1600" b="1">
                <a:solidFill>
                  <a:srgbClr val="70AD47"/>
                </a:solidFill>
                <a:latin typeface="Calibri"/>
              </a:defRPr>
            </a:pPr>
            <a:r>
              <a:rPr dirty="0">
                <a:latin typeface="Calibri"/>
              </a:rPr>
              <a:t>CVT è </a:t>
            </a:r>
            <a:r>
              <a:rPr dirty="0" err="1">
                <a:latin typeface="Calibri"/>
              </a:rPr>
              <a:t>l'unica</a:t>
            </a:r>
            <a:r>
              <a:rPr dirty="0">
                <a:latin typeface="Calibri"/>
              </a:rPr>
              <a:t> </a:t>
            </a:r>
            <a:r>
              <a:rPr dirty="0" err="1">
                <a:latin typeface="Calibri"/>
              </a:rPr>
              <a:t>opzione</a:t>
            </a:r>
            <a:r>
              <a:rPr dirty="0">
                <a:latin typeface="Calibri"/>
              </a:rPr>
              <a:t> </a:t>
            </a:r>
            <a:r>
              <a:rPr dirty="0" err="1">
                <a:latin typeface="Calibri"/>
              </a:rPr>
              <a:t>accessibile</a:t>
            </a:r>
            <a:r>
              <a:rPr dirty="0">
                <a:latin typeface="Calibri"/>
              </a:rPr>
              <a:t> per la </a:t>
            </a:r>
            <a:r>
              <a:rPr dirty="0" err="1">
                <a:latin typeface="Calibri"/>
              </a:rPr>
              <a:t>formazione</a:t>
            </a:r>
            <a:r>
              <a:rPr dirty="0">
                <a:latin typeface="Calibri"/>
              </a:rPr>
              <a:t> </a:t>
            </a:r>
            <a:r>
              <a:rPr dirty="0" err="1">
                <a:latin typeface="Calibri"/>
              </a:rPr>
              <a:t>industriale</a:t>
            </a:r>
            <a:r>
              <a:rPr dirty="0">
                <a:latin typeface="Calibri"/>
              </a:rPr>
              <a:t> 3D.</a:t>
            </a:r>
          </a:p>
        </p:txBody>
      </p:sp>
    </p:spTree>
    <p:extLst>
      <p:ext uri="{BB962C8B-B14F-4D97-AF65-F5344CB8AC3E}">
        <p14:creationId xmlns:p14="http://schemas.microsoft.com/office/powerpoint/2010/main" val="1335352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0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0000" y="1000000"/>
            <a:ext cx="106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rPr>
                <a:latin typeface="Calibri Light"/>
              </a:rPr>
              <a:t>"Con €400/anno</a:t>
            </a:r>
          </a:p>
          <a:p>
            <a:pPr algn="l">
              <a:defRPr sz="1400" b="0">
                <a:solidFill>
                  <a:srgbClr val="000000"/>
                </a:solidFill>
                <a:latin typeface="Calibri"/>
              </a:defRPr>
            </a:pPr>
            <a:endParaRPr>
              <a:latin typeface="Calibri Light"/>
            </a:endParaRPr>
          </a:p>
          <a:p>
            <a:pPr algn="ctr">
              <a:defRPr sz="2800" b="1">
                <a:solidFill>
                  <a:srgbClr val="ED7D31"/>
                </a:solidFill>
                <a:latin typeface="Calibri Light"/>
              </a:defRPr>
            </a:pPr>
            <a:r>
              <a:rPr>
                <a:latin typeface="Calibri Light"/>
              </a:rPr>
              <a:t>eviti almeno 1 ticket service (€200-800)</a:t>
            </a:r>
          </a:p>
          <a:p>
            <a:pPr algn="ctr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rPr>
                <a:latin typeface="Calibri Light"/>
              </a:rPr>
              <a:t>e riduci il downtime produzione."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0000" y="3600000"/>
            <a:ext cx="98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ACCEE"/>
                </a:solidFill>
                <a:latin typeface="Calibri"/>
              </a:defRPr>
            </a:pPr>
            <a:r>
              <a:rPr>
                <a:latin typeface="Calibri"/>
              </a:rPr>
              <a:t>10 operatori × 5 tutorial = ROI &gt; 500% annuo</a:t>
            </a:r>
          </a:p>
          <a:p>
            <a:pPr algn="ctr">
              <a:defRPr sz="1800" b="1">
                <a:solidFill>
                  <a:srgbClr val="CCDDFF"/>
                </a:solidFill>
                <a:latin typeface="Calibri"/>
              </a:defRPr>
            </a:pPr>
            <a:r>
              <a:rPr>
                <a:latin typeface="Calibri"/>
              </a:rPr>
              <a:t>Il primo mese ripaga l'intero abbonamento.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" y="5800000"/>
            <a:ext cx="102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8AACC"/>
                </a:solidFill>
                <a:latin typeface="Calibri"/>
              </a:defRPr>
            </a:pPr>
            <a:r>
              <a:rPr>
                <a:latin typeface="Calibri"/>
              </a:rPr>
              <a:t>Campus Virtual Training  ■  Analisi strategica  ■  Luglio 2026</a:t>
            </a:r>
          </a:p>
        </p:txBody>
      </p:sp>
    </p:spTree>
    <p:extLst>
      <p:ext uri="{BB962C8B-B14F-4D97-AF65-F5344CB8AC3E}">
        <p14:creationId xmlns:p14="http://schemas.microsoft.com/office/powerpoint/2010/main" val="29664531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4b587c5-5a8e-4849-ad21-3dd59e008720" xsi:nil="true"/>
    <Sharedwith xmlns="e6e3e365-42fd-4301-a781-4ec573abb2b2">
      <UserInfo>
        <DisplayName/>
        <AccountId xsi:nil="true"/>
        <AccountType/>
      </UserInfo>
    </Sharedwith>
    <lcf76f155ced4ddcb4097134ff3c332f xmlns="e6e3e365-42fd-4301-a781-4ec573abb2b2">
      <Terms xmlns="http://schemas.microsoft.com/office/infopath/2007/PartnerControls"/>
    </lcf76f155ced4ddcb4097134ff3c332f>
    <Provacolonna xmlns="e6e3e365-42fd-4301-a781-4ec573abb2b2">.</Provacolonna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7DD69FF3CB101498C0F311ED1394DF8" ma:contentTypeVersion="18" ma:contentTypeDescription="Creare un nuovo documento." ma:contentTypeScope="" ma:versionID="7de26e83fe3a741c81a7d57b4c605254">
  <xsd:schema xmlns:xsd="http://www.w3.org/2001/XMLSchema" xmlns:xs="http://www.w3.org/2001/XMLSchema" xmlns:p="http://schemas.microsoft.com/office/2006/metadata/properties" xmlns:ns2="e6e3e365-42fd-4301-a781-4ec573abb2b2" xmlns:ns3="84b587c5-5a8e-4849-ad21-3dd59e008720" targetNamespace="http://schemas.microsoft.com/office/2006/metadata/properties" ma:root="true" ma:fieldsID="765559bfaf22d15f2283e4f504f833a2" ns2:_="" ns3:_="">
    <xsd:import namespace="e6e3e365-42fd-4301-a781-4ec573abb2b2"/>
    <xsd:import namespace="84b587c5-5a8e-4849-ad21-3dd59e0087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LengthInSeconds" minOccurs="0"/>
                <xsd:element ref="ns2:MediaServiceDateTaken" minOccurs="0"/>
                <xsd:element ref="ns2:Provacolonna"/>
                <xsd:element ref="ns2:Sharedwith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e3e365-42fd-4301-a781-4ec573abb2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Tag immagine" ma:readOnly="false" ma:fieldId="{5cf76f15-5ced-4ddc-b409-7134ff3c332f}" ma:taxonomyMulti="true" ma:sspId="69a4bb9d-e77e-4e2c-90ab-11f2499ab03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Provacolonna" ma:index="22" ma:displayName="Prova colonna" ma:format="Dropdown" ma:internalName="Provacolonna">
      <xsd:simpleType>
        <xsd:restriction base="dms:Note"/>
      </xsd:simpleType>
    </xsd:element>
    <xsd:element name="Sharedwith" ma:index="23" nillable="true" ma:displayName="Shared with" ma:format="Dropdown" ma:list="UserInfo" ma:SharePointGroup="0" ma:internalName="Sharedwith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b587c5-5a8e-4849-ad21-3dd59e00872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af7336f0-0e12-4434-b0e1-94083d23cd62}" ma:internalName="TaxCatchAll" ma:showField="CatchAllData" ma:web="84b587c5-5a8e-4849-ad21-3dd59e00872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C0F621C-E314-4F50-B786-9C54227620F8}">
  <ds:schemaRefs>
    <ds:schemaRef ds:uri="84b587c5-5a8e-4849-ad21-3dd59e008720"/>
    <ds:schemaRef ds:uri="e6e3e365-42fd-4301-a781-4ec573abb2b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4A0C212-6343-42CE-B45A-804BAB30C102}">
  <ds:schemaRefs>
    <ds:schemaRef ds:uri="84b587c5-5a8e-4849-ad21-3dd59e008720"/>
    <ds:schemaRef ds:uri="e6e3e365-42fd-4301-a781-4ec573abb2b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D87B90D-EE8F-4463-BC64-2C1B704ABA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847</Words>
  <Application>Microsoft Office PowerPoint</Application>
  <PresentationFormat>Widescreen</PresentationFormat>
  <Paragraphs>257</Paragraphs>
  <Slides>16</Slides>
  <Notes>0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Consolas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Utente di Microsoft Office</dc:creator>
  <cp:lastModifiedBy>Massimiliano Loffredo</cp:lastModifiedBy>
  <cp:revision>3</cp:revision>
  <dcterms:created xsi:type="dcterms:W3CDTF">2018-10-05T08:15:07Z</dcterms:created>
  <dcterms:modified xsi:type="dcterms:W3CDTF">2026-07-07T12:43:09Z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0x010100F7DD69FF3CB101498C0F311ED1394DF8</vt:lpwstr>
  </property>
  <property fmtid="{D5CDD505-2E9C-101B-9397-08002B2CF9AE}" pid="3" name="MediaServiceImageTags">
    <vt:lpwstr/>
  </property>
</Properties>
</file>